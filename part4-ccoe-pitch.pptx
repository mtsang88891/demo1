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86C4D1E-0F52-489D-A352-451C848C7531}"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685800" y="1143000"/>
            <a:ext cx="5486040" cy="3085920"/>
          </a:xfrm>
          <a:prstGeom prst="rect">
            <a:avLst/>
          </a:prstGeom>
          <a:ln w="0">
            <a:noFill/>
          </a:ln>
        </p:spPr>
      </p:sp>
      <p:sp>
        <p:nvSpPr>
          <p:cNvPr id="3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1: TITLE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Opening one-liner (5-minute pitch opener):</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"You hired us to make your cloud fast, secure, and repeatable. Today we're going to show you how AI turns that promise from a consulting engagement into a permanent capability your engineers own."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Opening one-liner:</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"Jullie hebben ons ingehuurd om de cloud snel, veilig en herhaalbaar te maken. Vandaag laten we zien hoe AI dat verandert van een consultancy-opdracht naar een blijvende vaardigheid van jullie eigen engineers."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PITCH FLOW: This 5-minute pitch has three acts: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1. The problem (slides 2–3): LZaaS deployments take too long and create debt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2. The solution (slides 4–7): WAM + MCP + AI closes the loop</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3. The proof (slides 8–12): technical depth for the engineers in the room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TONE: Confident, forward-leaning. You're not pitching a future concept — this is a working system built on CloudNation's existing WAM library.</a:t>
            </a:r>
            <a:endParaRPr lang="en-US" sz="2000" b="0" u="none" strike="noStrike">
              <a:solidFill>
                <a:srgbClr val="000000"/>
              </a:solidFill>
              <a:effectLst/>
              <a:uFillTx/>
              <a:latin typeface="Arial"/>
            </a:endParaRPr>
          </a:p>
        </p:txBody>
      </p:sp>
      <p:sp>
        <p:nvSpPr>
          <p:cNvPr id="384"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65AF4BB-6C65-42BC-921C-C4974999E79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685800" y="1143000"/>
            <a:ext cx="5486040" cy="3085920"/>
          </a:xfrm>
          <a:prstGeom prst="rect">
            <a:avLst/>
          </a:prstGeom>
          <a:ln w="0">
            <a:noFill/>
          </a:ln>
        </p:spPr>
      </p:sp>
      <p:sp>
        <p:nvSpPr>
          <p:cNvPr id="3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2: THE PROBLEM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"Every CCoE we talk to is caught in the same triangle: go fast, stay compliant, and don't burn out your platform engineers. Right now you can pick two. We're here to tell you AI lets you pick all three."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"Elke CCoE zit vast in dezelfde driehoek: snel gaan, compliant blijven, en je platform-engineers niet uitputten. Op dit moment kun je er twee kiezen. Wij komen vertellen hoe AI je alle drie laat kiezen."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SALES ONE-LINER [EN]: "Speed without governance is how you end up on the front page for the wrong reasons. Governance without speed is how you end up irrelevant."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SALES ONE-LINER [NL]: "Snelheid zonder governance is hoe je om de verkeerde redenen in het nieuws komt. Governance zonder snelheid is hoe je irrelevant wordt."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KEY POINT: Don't dwell here. Acknowledge the pain quickly and move to the solution. The audience already feels this — you don't need to convince them the problem is real.</a:t>
            </a:r>
            <a:endParaRPr lang="en-US" sz="2000" b="0" u="none" strike="noStrike">
              <a:solidFill>
                <a:srgbClr val="000000"/>
              </a:solidFill>
              <a:effectLst/>
              <a:uFillTx/>
              <a:latin typeface="Arial"/>
            </a:endParaRPr>
          </a:p>
        </p:txBody>
      </p:sp>
      <p:sp>
        <p:nvSpPr>
          <p:cNvPr id="387"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0478D9-C434-4DA3-966A-E09B8BE69BE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685800" y="1143000"/>
            <a:ext cx="5486040" cy="3085920"/>
          </a:xfrm>
          <a:prstGeom prst="rect">
            <a:avLst/>
          </a:prstGeom>
          <a:ln w="0">
            <a:noFill/>
          </a:ln>
        </p:spPr>
      </p:sp>
      <p:sp>
        <p:nvSpPr>
          <p:cNvPr id="3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3: TODAY'S WORKFLOW</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"This is the loop your team lives in today. Notice that every step requires a human with expert context — and the only way to go faster is to hire more of those humans or cut corners on the review steps. Neither option scales."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"Dit is de cyclus waar jullie team vandaag in leeft. Elke stap vereist een expert met context — en de enige manier om sneller te gaan is meer van die mensen aannemen, of de reviewstappen overslaan. Geen van beide opties schaalt."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BOARD-LEVEL ONE-LINER [EN]: "Your platform engineers are spending 60% of their time being a human proxy between a developer's intent and a Terraform file. That's not a people problem — it's a tooling problem."</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BOARD-LEVEL ONE-LINER [NL]: "Jullie platform-engineers brengen 60% van hun tijd door als menselijke vertaler tussen een developer's bedoeling en een Terraform-bestand. Dat is geen mensen-probleem — dat is een tooling-probleem."</a:t>
            </a:r>
            <a:endParaRPr lang="en-US" sz="2000" b="0" u="none" strike="noStrike">
              <a:solidFill>
                <a:srgbClr val="000000"/>
              </a:solidFill>
              <a:effectLst/>
              <a:uFillTx/>
              <a:latin typeface="Arial"/>
            </a:endParaRPr>
          </a:p>
        </p:txBody>
      </p:sp>
      <p:sp>
        <p:nvSpPr>
          <p:cNvPr id="390"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49005A8-773E-4C14-BB24-87E13D291E0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685800" y="1143000"/>
            <a:ext cx="5486040" cy="3085920"/>
          </a:xfrm>
          <a:prstGeom prst="rect">
            <a:avLst/>
          </a:prstGeom>
          <a:ln w="0">
            <a:noFill/>
          </a:ln>
        </p:spPr>
      </p:sp>
      <p:sp>
        <p:nvSpPr>
          <p:cNvPr id="3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4: THE SOLUTION CONCEPT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"Three components. Each one already exists. What we're doing is connecting them in a way that's never been done for infrastructure delivery.</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WAM is your standard. MCP is the bridge. The AI is the productivity layer your developers actually interact with.</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key insight: the AI doesn't know your standards — the MCP server does. The AI just follows what the server returns."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"Drie componenten. Elk bestaat al. Wat we doen is ze verbinden op een manier die nog nooit gedaan is voor infrastructure delivery.</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WAM is jullie standaard. MCP is de brug. De AI is de productiviteitslaag waar jullie developers mee werken.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 sleutelgedachte: de AI kent jullie standaarden niet — de MCP-server wel. De AI volgt simpelweg wat de server teruggeeft."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EXECUTIVE ONE-LINER [EN]: "We're not giving AI the keys to your infrastructure. We're giving your infrastructure standards a voice that AI can hear."</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EXECUTIVE ONE-LINER [NL]: "We geven de AI niet de sleutels van jullie infrastructuur. We geven jullie infrastructuurstandaarden een stem die de AI kan horen."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CCOE BOARD ONE-LINER [EN]: "Think of the MCP server as a constitutional layer between the AI's creativity and your production environment."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CCOE BOARD ONE-LINER [NL]: "Zie de MCP-server als een constitutionele laag tussen de creativiteit van de AI en jullie productieomgeving."</a:t>
            </a:r>
            <a:endParaRPr lang="en-US" sz="2000" b="0" u="none" strike="noStrike">
              <a:solidFill>
                <a:srgbClr val="000000"/>
              </a:solidFill>
              <a:effectLst/>
              <a:uFillTx/>
              <a:latin typeface="Arial"/>
            </a:endParaRPr>
          </a:p>
        </p:txBody>
      </p:sp>
      <p:sp>
        <p:nvSpPr>
          <p:cNvPr id="393"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296D0B0-9BEF-4C04-BECD-9AC5D30B465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685800" y="1143000"/>
            <a:ext cx="5486040" cy="3085920"/>
          </a:xfrm>
          <a:prstGeom prst="rect">
            <a:avLst/>
          </a:prstGeom>
          <a:ln w="0">
            <a:noFill/>
          </a:ln>
        </p:spPr>
      </p:sp>
      <p:sp>
        <p:nvSpPr>
          <p:cNvPr id="3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5: LZAAS ACCELERATION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"This isn't about removing humans from the loop. It's about removing humans from the boring parts of the loop — the parts that can be automated with high confidence because the standards are explicit and machine-readable.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senior engineer's time is freed for the work that genuinely needs expert judgment: new patterns, complex migrations, edge cases."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"Het gaat er niet om mensen uit de loop te halen. Het gaat erom mensen te bevrijden van de saaie delen — de delen die met hoog vertrouwen geautomatiseerd kunnen worden omdat de standaarden expliciet en machine-leesbaar zijn.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 senior engineer heeft dan tijd voor werk dat écht expert-oordeel vereist: nieuwe patronen, complexe migraties, uitzonderingsgevallen."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CCoE EXEC ONE-LINER [EN]: "Your senior engineers should be setting standards, not enforcing them on every PR. AI enforces. Engineers innovate."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CCoE EXEC ONE-LINER [NL]: "Jullie senior engineers zouden standaarden moeten vaststellen, niet handhaven bij elke PR. AI handhaaft. Engineers innoveren."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SALES ONE-LINER [EN]: "We're not selling you automation. We're selling you 10x more senior engineer capacity at the same headcount."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SALES ONE-LINER [NL]: "We verkopen jullie geen automatisering. We verkopen jullie 10x meer senior engineer capaciteit bij hetzelfde personeelsbestand."</a:t>
            </a:r>
            <a:endParaRPr lang="en-US" sz="2000" b="0" u="none" strike="noStrike">
              <a:solidFill>
                <a:srgbClr val="000000"/>
              </a:solidFill>
              <a:effectLst/>
              <a:uFillTx/>
              <a:latin typeface="Arial"/>
            </a:endParaRPr>
          </a:p>
        </p:txBody>
      </p:sp>
      <p:sp>
        <p:nvSpPr>
          <p:cNvPr id="396"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2A97224-63D3-45A5-83A8-8DA936D764B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685800" y="1143000"/>
            <a:ext cx="5486040" cy="3085920"/>
          </a:xfrm>
          <a:prstGeom prst="rect">
            <a:avLst/>
          </a:prstGeom>
          <a:ln w="0">
            <a:noFill/>
          </a:ln>
        </p:spPr>
      </p:sp>
      <p:sp>
        <p:nvSpPr>
          <p:cNvPr id="3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6: ELIMINATING TECHNICAL DEBT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"Technical debt in infrastructure almost always comes from the same source: a developer who needed to move fast, didn't know the standard, and made a reasonable guess. This system removes the guess.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When compliance is the default, and every layer below the AI enforces it deterministically, the AI can be as creative as it wants — it will never produce non-compliant infrastructure."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"Technische schuld in infrastructuur komt bijna altijd van dezelfde bron: een developer die snel moest werken, de standaard niet kende, en een redelijke gok deed. Dit systeem verwijdert de gok.</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Wanneer compliance de standaard is, en elke laag onder de AI het deterministisch handhaaft, kan de AI zo creatief zijn als het wil — het zal nooit niet-conforme infrastructuur produceren."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EXEC ONE-LINER [EN]: "The most expensive Terraform is the kind that works perfectly on day one and is a compliance nightmare two years later. WAM makes that impossible."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EXEC ONE-LINER [NL]: "De duurste Terraform is de soort die op dag één perfect werkt en twee jaar later een compliance-nachtmerrie is. WAM maakt dat onmogelijk."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SALES ONE-LINER [EN]: "We don't fix drift after it happens. We make drift structurally impossible before the code is committed."</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SALES ONE-LINER [NL]: "Wij repareren geen drift nadat het is gebeurd. We maken drift structureel onmogelijk voordat de code wordt gecommit."</a:t>
            </a:r>
            <a:endParaRPr lang="en-US" sz="2000" b="0" u="none" strike="noStrike">
              <a:solidFill>
                <a:srgbClr val="000000"/>
              </a:solidFill>
              <a:effectLst/>
              <a:uFillTx/>
              <a:latin typeface="Arial"/>
            </a:endParaRPr>
          </a:p>
        </p:txBody>
      </p:sp>
      <p:sp>
        <p:nvSpPr>
          <p:cNvPr id="399"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FC5650-09B3-47DF-A7A6-5388FE83309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685800" y="1143000"/>
            <a:ext cx="5486040" cy="3085920"/>
          </a:xfrm>
          <a:prstGeom prst="rect">
            <a:avLst/>
          </a:prstGeom>
          <a:ln w="0">
            <a:noFill/>
          </a:ln>
        </p:spPr>
      </p:sp>
      <p:sp>
        <p:nvSpPr>
          <p:cNvPr id="4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7: UPSKILLING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"This is the outcome no other vendor talks about — because most AI tools make your engineers dependent on the AI, not more capable without it.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Our approach is different: because the AI explains what it's doing and why, and because the validation feedback is human-readable, every interaction is a micro-training session.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After six months, your engineers write better Terraform with the AI off than they did before the AI was 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"Dit is het resultaat waar geen enkele andere vendor over praat — want de meeste AI-tools maken jullie engineers afhankelijk van de AI, niet capabeler zonder.</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Onze aanpak is anders: omdat de AI uitlegt wat het doet en waarom, en omdat de validatiefeedback leesbaar is voor mensen, is elke interactie een mini-training.</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Na zes maanden schrijven jullie engineers betere Terraform met de AI uit dan ze deden voordat de AI aan was."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HR/TALENT ONE-LINER [EN]: "This is your answer to the cloud skills shortage that doesn't involve a bidding war for senior engineers."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HR/TALENT ONE-LINER [NL]: "Dit is jullie antwoord op het cloud-vaardigheidstekort dat geen biedingsoorlog voor senior engineers vereist."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STRATEGIC ONE-LINER [EN]: "Don't build a team that depends on AI. Build a team that's amplified by it."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STRATEGIC ONE-LINER [NL]: "Bouw geen team dat afhankelijk is van AI. Bouw een team dat erdoor wordt versterkt."</a:t>
            </a:r>
            <a:endParaRPr lang="en-US" sz="2000" b="0" u="none" strike="noStrike">
              <a:solidFill>
                <a:srgbClr val="000000"/>
              </a:solidFill>
              <a:effectLst/>
              <a:uFillTx/>
              <a:latin typeface="Arial"/>
            </a:endParaRPr>
          </a:p>
        </p:txBody>
      </p:sp>
      <p:sp>
        <p:nvSpPr>
          <p:cNvPr id="402"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218BCD8-36C7-405A-9B9E-9DAD3D36A01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685800" y="1143000"/>
            <a:ext cx="5486040" cy="3085920"/>
          </a:xfrm>
          <a:prstGeom prst="rect">
            <a:avLst/>
          </a:prstGeom>
          <a:ln w="0">
            <a:noFill/>
          </a:ln>
        </p:spPr>
      </p:sp>
      <p:sp>
        <p:nvSpPr>
          <p:cNvPr id="4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8: SECURITY &amp; GOVERNANCE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"I want to pre-empt the question your CISO is already writing on their notepad: 'What happens when the AI does something wrong?'</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answer is: it depends on how you've built the system. In our architecture, the AI cannot apply infrastructure directly, cannot read your state files, and cannot access credentials. Everything it generates is reviewed by deterministic, policy-as-code systems that don't care how confident the AI sounded."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"Ik wil de vraag voorkomen die jullie CISO al op hun notitieblok schrijft: 'Wat gebeurt er als de AI iets fout doet?'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Het antwoord is: dat hangt af van hoe je het systeem hebt gebouwd. In onze architectuur kan de AI geen infrastructuur direct toepassen, kan het jullie state-bestanden niet lezen, en heeft het geen toegang tot credentials. Alles wat het genereert wordt beoordeeld door deterministische, policy-as-code systemen die niet uitmaken hoe zeker de AI klonk."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CISO ONE-LINER [EN]: "We don't trust the AI. We verify everything it produces. That's not a limitation of the system — that's the architecture."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CISO ONE-LINER [NL]: "We vertrouwen de AI niet. We verifiëren alles wat het produceert. Dat is geen beperking van het systeem — dat is de architectuur."</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RISK ONE-LINER [EN]: "Zero-trust for networks, zero-trust for identities, zero-trust for AI. Consistent philosophy, consistent posture."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RISK ONE-LINER [NL]: "Zero-trust voor netwerken, zero-trust voor identiteiten, zero-trust voor AI. Consistente filosofie, consistent beleid."</a:t>
            </a:r>
            <a:endParaRPr lang="en-US" sz="2000" b="0" u="none" strike="noStrike">
              <a:solidFill>
                <a:srgbClr val="000000"/>
              </a:solidFill>
              <a:effectLst/>
              <a:uFillTx/>
              <a:latin typeface="Arial"/>
            </a:endParaRPr>
          </a:p>
        </p:txBody>
      </p:sp>
      <p:sp>
        <p:nvSpPr>
          <p:cNvPr id="405"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D4E0872-8310-4FB1-A5A1-489031B7B90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685800" y="1143000"/>
            <a:ext cx="5486040" cy="3085920"/>
          </a:xfrm>
          <a:prstGeom prst="rect">
            <a:avLst/>
          </a:prstGeom>
          <a:ln w="0">
            <a:noFill/>
          </a:ln>
        </p:spPr>
      </p:sp>
      <p:sp>
        <p:nvSpPr>
          <p:cNvPr id="4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9: SYSTEM ARCHITECTURE (TECHNICAL)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"For the architects in the room: this diagram shows three clearly separated concerns.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Developer Layer is where the AI lives — it can see only what the MCP Host gives it permission to see.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MCP Server Layer is CloudNation's proprietary boundary — the WAM MCP server is where our IP lives and where security is enforced.</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Backend Layer is your source of truth — your Git repositories, your pipeline, your state. The AI never reaches this layer directly.</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key principle at the bottom is the architectural constitution of this system."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"Voor de architecten in de zaal: dit diagram toont drie duidelijk gescheiden concerns.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 Developer Layer is waar de AI leeft — het kan alleen zien wat de MCP Host toestemming geeft te zien.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 MCP Server Layer is CloudNation's eigen grens — de WAM MCP-server is waar onze IP leeft en waar beveiliging wordt gehandhaafd.</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 Backend Layer is jullie bron van waarheid — jullie Git-repositories, pipeline, state. De AI bereikt deze laag nooit rechtstreeks."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ARCHITECT ONE-LINER [EN]: "The blast radius of a fully compromised AI agent is bounded by the MCP server's permissions. Scope the server right, and the worst case is a bad PR — not a destroyed production environment."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ARCHITECT ONE-LINER [NL]: "De blast radius van een volledig gecompromitteerde AI-agent wordt begrensd door de rechten van de MCP-server. Scope de server correct, en het slechtste geval is een slechte PR — niet een vernietigd productie-omgeving."</a:t>
            </a:r>
            <a:endParaRPr lang="en-US" sz="2000" b="0" u="none" strike="noStrike">
              <a:solidFill>
                <a:srgbClr val="000000"/>
              </a:solidFill>
              <a:effectLst/>
              <a:uFillTx/>
              <a:latin typeface="Arial"/>
            </a:endParaRPr>
          </a:p>
        </p:txBody>
      </p:sp>
      <p:sp>
        <p:nvSpPr>
          <p:cNvPr id="408"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D6CDD4-2CEB-417D-B4A3-C2D03CBC0EB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685800" y="1143000"/>
            <a:ext cx="5486040" cy="3085920"/>
          </a:xfrm>
          <a:prstGeom prst="rect">
            <a:avLst/>
          </a:prstGeom>
          <a:ln w="0">
            <a:noFill/>
          </a:ln>
        </p:spPr>
      </p:sp>
      <p:sp>
        <p:nvSpPr>
          <p:cNvPr id="4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10: WAM DEEP DIVE (TECHNICAL)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"For engineers who want to see the specifics: both modules enforce Well-Architected defaults directly in their Terraform variable schemas. These aren't policy documents — they're enforced at plan time by Terraform's own type system.</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distinction between Resource and Pattern Modules is a strategic one. Resource Modules are open-source to build community credibility. Pattern Modules are private because they contain CloudNation's accumulated architectural decisions — the IP that took years to build."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"Voor engineers die de details willen zien: beide modules handhaven Well-Architected standaarden direct in hun Terraform-variabeleschema's. Dit zijn geen beleidsdocumenten — ze worden afgedwongen bij plan-tijd door Terraform's eigen type-systeem.</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Het onderscheid tussen Resource- en Pattern-modules is strategisch. Resource-modules zijn open-source om gemeenschapscredibiliteit op te bouwen. Pattern-modules zijn privé omdat ze CloudNation's geaccumuleerde architectuurbesluiten bevatten — de IP die jaren duurde om op te bouwen."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GITHUB REFERENCES: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 terraform-azure-kv: https://github.com/CloudNationHQ/terraform-azure-kv</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terraform-azure-sa: https://github.com/CloudNationHQ/terraform-azure-sa</a:t>
            </a:r>
            <a:endParaRPr lang="en-US" sz="2000" b="0" u="none" strike="noStrike">
              <a:solidFill>
                <a:srgbClr val="000000"/>
              </a:solidFill>
              <a:effectLst/>
              <a:uFillTx/>
              <a:latin typeface="Arial"/>
            </a:endParaRPr>
          </a:p>
        </p:txBody>
      </p:sp>
      <p:sp>
        <p:nvSpPr>
          <p:cNvPr id="411"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1F482A-9672-4B5D-9E62-6600C7EBFA0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685800" y="1143000"/>
            <a:ext cx="5486040" cy="3085920"/>
          </a:xfrm>
          <a:prstGeom prst="rect">
            <a:avLst/>
          </a:prstGeom>
          <a:ln w="0">
            <a:noFill/>
          </a:ln>
        </p:spPr>
      </p:sp>
      <p:sp>
        <p:nvSpPr>
          <p:cNvPr id="4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11: RAG BACKEND (TECHNICAL)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"The most common failure mode for AI in infrastructure contexts is confident generation from wrong context — the AI produces valid-looking Terraform that references a module version that doesn't exist, or an argument that was removed in v3.</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Our RAG backend is the architectural answer to that problem. The AI can only reference what we've explicitly retrieved, version-tagged, and allowlisted. The cross-encoder re-ranking step is particularly important — it's what separates 'vaguely related module' from 'exactly the right module for this task.'"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"De meest voorkomende fout voor AI in infrastructuurcontexten is zelfverzekerd genereren vanuit foute context — de AI produceert geldig uitziende Terraform die verwijst naar een moduleversie die niet bestaat.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Onze RAG-backend is het architectonische antwoord op dat probleem. De AI kan alleen refereren aan wat we expliciet hebben opgehaald, versie-getagd, en op de allowlist gezet."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TOOLING STACK: Qdrant (vector store), text-embedding-3-large / bge-m3 (embedding), python-hcl2 (HCL parsing), cross-encoder/ms-marco-MiniLM-L-6-v2 (re-ranking), OPA/Conftest (policy enforcement)</a:t>
            </a:r>
            <a:endParaRPr lang="en-US" sz="2000" b="0" u="none" strike="noStrike">
              <a:solidFill>
                <a:srgbClr val="000000"/>
              </a:solidFill>
              <a:effectLst/>
              <a:uFillTx/>
              <a:latin typeface="Arial"/>
            </a:endParaRPr>
          </a:p>
        </p:txBody>
      </p:sp>
      <p:sp>
        <p:nvSpPr>
          <p:cNvPr id="414"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F5ED7D3-DF81-4E3A-A5A6-6A56783E5F4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685800" y="1143000"/>
            <a:ext cx="5486040" cy="3085920"/>
          </a:xfrm>
          <a:prstGeom prst="rect">
            <a:avLst/>
          </a:prstGeom>
          <a:ln w="0">
            <a:noFill/>
          </a:ln>
        </p:spPr>
      </p:sp>
      <p:sp>
        <p:nvSpPr>
          <p:cNvPr id="4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SPEAKER NOTES — SLIDE 12: CALL TO ACTION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[EN] Closing one-liner (leave the room with this):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question isn't whether AI will change how your engineers provision infrastructure. It already has, at every company that's tried it. The question is whether you do it with guardrails, standards, and a partner who's built the system for enterprise — or whether you do it with a chatbot and a hope."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[NL] Closing one-liner:</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 vraag is niet of AI gaat veranderen hoe jullie engineers infrastructuur provisioneren. Dat heeft het al gedaan, bij elk bedrijf dat het geprobeerd heeft. De vraag is of jullie het doen met vangrails, standaarden, en een partner die het systeem voor enterprise heeft gebouwd — of dat jullie het doen met een chatbot en een hoop."</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SALES CLOSE [EN]: "We're not asking you to trust AI. We're asking you to trust your own WAM standards — and let AI enforce them faster than any human can."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SALES CLOSE [NL]: "We vragen jullie niet de AI te vertrouwen. We vragen jullie jullie eigen WAM-standaarden te vertrouwen — en de AI ze sneller te laten handhaven dan welke mens dan ook."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OPTION A (low commitment): Start with the WAM Assessment — no production impact, pure analysis.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OPTION B (medium commitment): MCP Pilot in a sandbox subscription — one sprint, measurable outcome.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OPTION C (full programme): End-to-end CCoE enablement — 3-month transformation.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CLOUDNATION TAG LINE: "CloudNation Knows How"</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DUTCH TAG LINE: "CloudNation Weet Hoe"</a:t>
            </a:r>
            <a:endParaRPr lang="en-US" sz="2000" b="0" u="none" strike="noStrike">
              <a:solidFill>
                <a:srgbClr val="000000"/>
              </a:solidFill>
              <a:effectLst/>
              <a:uFillTx/>
              <a:latin typeface="Arial"/>
            </a:endParaRPr>
          </a:p>
        </p:txBody>
      </p:sp>
      <p:sp>
        <p:nvSpPr>
          <p:cNvPr id="417"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696BB9-F684-4CCB-AFFC-C79FA6DB5B1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0" name="Shape 0"/>
          <p:cNvSpPr/>
          <p:nvPr/>
        </p:nvSpPr>
        <p:spPr>
          <a:xfrm>
            <a:off x="0" y="0"/>
            <a:ext cx="5668920" cy="514332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0" y="0"/>
            <a:ext cx="109440" cy="5143320"/>
          </a:xfrm>
          <a:prstGeom prst="rect">
            <a:avLst/>
          </a:prstGeom>
          <a:solidFill>
            <a:srgbClr val="0070F3"/>
          </a:solidFill>
          <a:ln w="12700">
            <a:solidFill>
              <a:srgbClr val="0070F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Shape 2"/>
          <p:cNvSpPr/>
          <p:nvPr/>
        </p:nvSpPr>
        <p:spPr>
          <a:xfrm>
            <a:off x="5943600" y="365760"/>
            <a:ext cx="2834280" cy="1462680"/>
          </a:xfrm>
          <a:prstGeom prst="rect">
            <a:avLst/>
          </a:prstGeom>
          <a:solidFill>
            <a:srgbClr val="1A3560"/>
          </a:solidFill>
          <a:ln w="12700">
            <a:solidFill>
              <a:srgbClr val="1A356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 name="Shape 3"/>
          <p:cNvSpPr/>
          <p:nvPr/>
        </p:nvSpPr>
        <p:spPr>
          <a:xfrm>
            <a:off x="6400800" y="2011680"/>
            <a:ext cx="2377080" cy="1096920"/>
          </a:xfrm>
          <a:prstGeom prst="rect">
            <a:avLst/>
          </a:prstGeom>
          <a:solidFill>
            <a:srgbClr val="0070F3">
              <a:alpha val="25000"/>
            </a:srgbClr>
          </a:solidFill>
          <a:ln w="12700">
            <a:solidFill>
              <a:srgbClr val="0070F3">
                <a:alpha val="2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 name="Shape 4"/>
          <p:cNvSpPr/>
          <p:nvPr/>
        </p:nvSpPr>
        <p:spPr>
          <a:xfrm>
            <a:off x="6035040" y="3291840"/>
            <a:ext cx="2925720" cy="1462680"/>
          </a:xfrm>
          <a:prstGeom prst="rect">
            <a:avLst/>
          </a:prstGeom>
          <a:solidFill>
            <a:srgbClr val="1A3560"/>
          </a:solidFill>
          <a:ln w="12700">
            <a:solidFill>
              <a:srgbClr val="1A356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 name="Text 5"/>
          <p:cNvSpPr/>
          <p:nvPr/>
        </p:nvSpPr>
        <p:spPr>
          <a:xfrm>
            <a:off x="274320" y="502920"/>
            <a:ext cx="5028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300" strike="noStrike">
                <a:solidFill>
                  <a:srgbClr val="0070F3"/>
                </a:solidFill>
                <a:effectLst/>
                <a:uFillTx/>
                <a:latin typeface="Calibri"/>
                <a:ea typeface="Calibri"/>
              </a:rPr>
              <a:t>CLOUD CENTER OF EXCELLENCE  ·  2026</a:t>
            </a:r>
            <a:endParaRPr lang="en-US" sz="900" b="0" u="none" strike="noStrike">
              <a:solidFill>
                <a:srgbClr val="FFFFFF"/>
              </a:solidFill>
              <a:effectLst/>
              <a:uFillTx/>
              <a:latin typeface="Arial"/>
            </a:endParaRPr>
          </a:p>
        </p:txBody>
      </p:sp>
      <p:sp>
        <p:nvSpPr>
          <p:cNvPr id="16" name="Text 6"/>
          <p:cNvSpPr/>
          <p:nvPr/>
        </p:nvSpPr>
        <p:spPr>
          <a:xfrm>
            <a:off x="274320" y="960120"/>
            <a:ext cx="53031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FFFFFF"/>
                </a:solidFill>
                <a:effectLst/>
                <a:uFillTx/>
                <a:latin typeface="Calibri"/>
                <a:ea typeface="Calibri"/>
              </a:rPr>
              <a:t>AI-Augmented</a:t>
            </a:r>
            <a:endParaRPr lang="en-US" sz="4400" b="0" u="none" strike="noStrike">
              <a:solidFill>
                <a:srgbClr val="FFFFFF"/>
              </a:solidFill>
              <a:effectLst/>
              <a:uFillTx/>
              <a:latin typeface="Arial"/>
            </a:endParaRPr>
          </a:p>
        </p:txBody>
      </p:sp>
      <p:sp>
        <p:nvSpPr>
          <p:cNvPr id="17" name="Text 7"/>
          <p:cNvSpPr/>
          <p:nvPr/>
        </p:nvSpPr>
        <p:spPr>
          <a:xfrm>
            <a:off x="274320" y="1572840"/>
            <a:ext cx="53031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0070F3"/>
                </a:solidFill>
                <a:effectLst/>
                <a:uFillTx/>
                <a:latin typeface="Calibri"/>
                <a:ea typeface="Calibri"/>
              </a:rPr>
              <a:t>Infrastructure</a:t>
            </a:r>
            <a:endParaRPr lang="en-US" sz="4400" b="0" u="none" strike="noStrike">
              <a:solidFill>
                <a:srgbClr val="FFFFFF"/>
              </a:solidFill>
              <a:effectLst/>
              <a:uFillTx/>
              <a:latin typeface="Arial"/>
            </a:endParaRPr>
          </a:p>
        </p:txBody>
      </p:sp>
      <p:sp>
        <p:nvSpPr>
          <p:cNvPr id="18" name="Text 8"/>
          <p:cNvSpPr/>
          <p:nvPr/>
        </p:nvSpPr>
        <p:spPr>
          <a:xfrm>
            <a:off x="274320" y="2185560"/>
            <a:ext cx="53031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FFFFFF"/>
                </a:solidFill>
                <a:effectLst/>
                <a:uFillTx/>
                <a:latin typeface="Calibri"/>
                <a:ea typeface="Calibri"/>
              </a:rPr>
              <a:t>Delivery</a:t>
            </a:r>
            <a:endParaRPr lang="en-US" sz="4400" b="0" u="none" strike="noStrike">
              <a:solidFill>
                <a:srgbClr val="FFFFFF"/>
              </a:solidFill>
              <a:effectLst/>
              <a:uFillTx/>
              <a:latin typeface="Arial"/>
            </a:endParaRPr>
          </a:p>
        </p:txBody>
      </p:sp>
      <p:sp>
        <p:nvSpPr>
          <p:cNvPr id="19" name="Text 9"/>
          <p:cNvSpPr/>
          <p:nvPr/>
        </p:nvSpPr>
        <p:spPr>
          <a:xfrm>
            <a:off x="274320" y="2999160"/>
            <a:ext cx="521172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E8EFF8"/>
                </a:solidFill>
                <a:effectLst/>
                <a:uFillTx/>
                <a:latin typeface="Calibri"/>
                <a:ea typeface="Calibri"/>
              </a:rPr>
              <a:t>How CloudNation's WAM + MCP transforms your</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E8EFF8"/>
                </a:solidFill>
                <a:effectLst/>
                <a:uFillTx/>
                <a:latin typeface="Calibri"/>
                <a:ea typeface="Calibri"/>
              </a:rPr>
              <a:t>Landing Zone as a Service — faster, safer, smarter.</a:t>
            </a:r>
            <a:endParaRPr lang="en-US" sz="1300" b="0" u="none" strike="noStrike">
              <a:solidFill>
                <a:srgbClr val="FFFFFF"/>
              </a:solidFill>
              <a:effectLst/>
              <a:uFillTx/>
              <a:latin typeface="Arial"/>
            </a:endParaRPr>
          </a:p>
        </p:txBody>
      </p:sp>
      <p:sp>
        <p:nvSpPr>
          <p:cNvPr id="20" name="Shape 10"/>
          <p:cNvSpPr/>
          <p:nvPr/>
        </p:nvSpPr>
        <p:spPr>
          <a:xfrm>
            <a:off x="274320" y="3886200"/>
            <a:ext cx="1645560" cy="27000"/>
          </a:xfrm>
          <a:prstGeom prst="rect">
            <a:avLst/>
          </a:prstGeom>
          <a:solidFill>
            <a:srgbClr val="00C8C8"/>
          </a:solidFill>
          <a:ln w="12700">
            <a:solidFill>
              <a:srgbClr val="00C8C8"/>
            </a:solidFill>
            <a:round/>
          </a:ln>
        </p:spPr>
        <p:style>
          <a:lnRef idx="0"/>
          <a:fillRef idx="0"/>
          <a:effectRef idx="0"/>
          <a:fontRef idx="minor"/>
        </p:style>
        <p:txBody>
          <a:bodyPr lIns="90000" tIns="-17640" rIns="90000" bIns="-17640" anchor="t">
            <a:noAutofit/>
          </a:bodyPr>
          <a:p>
            <a:endParaRPr lang="en-US" sz="1800" b="0" u="none" strike="noStrike">
              <a:solidFill>
                <a:srgbClr val="000000"/>
              </a:solidFill>
              <a:effectLst/>
              <a:uFillTx/>
              <a:latin typeface="Arial"/>
            </a:endParaRPr>
          </a:p>
        </p:txBody>
      </p:sp>
      <p:sp>
        <p:nvSpPr>
          <p:cNvPr id="21" name="Text 11"/>
          <p:cNvSpPr/>
          <p:nvPr/>
        </p:nvSpPr>
        <p:spPr>
          <a:xfrm>
            <a:off x="274320" y="3977640"/>
            <a:ext cx="50288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A8BDD0"/>
                </a:solidFill>
                <a:effectLst/>
                <a:uFillTx/>
                <a:latin typeface="Calibri"/>
                <a:ea typeface="Calibri"/>
              </a:rPr>
              <a:t>CloudNation  ·  AI &amp; Infrastructure Practice</a:t>
            </a:r>
            <a:endParaRPr lang="en-US" sz="1000" b="0" u="none" strike="noStrike">
              <a:solidFill>
                <a:srgbClr val="FFFFFF"/>
              </a:solidFill>
              <a:effectLst/>
              <a:uFillTx/>
              <a:latin typeface="Arial"/>
            </a:endParaRPr>
          </a:p>
        </p:txBody>
      </p:sp>
      <p:sp>
        <p:nvSpPr>
          <p:cNvPr id="22" name="Text 12"/>
          <p:cNvSpPr/>
          <p:nvPr/>
        </p:nvSpPr>
        <p:spPr>
          <a:xfrm>
            <a:off x="6080760" y="548640"/>
            <a:ext cx="26514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070F3"/>
                </a:solidFill>
                <a:effectLst/>
                <a:uFillTx/>
                <a:latin typeface="Calibri"/>
                <a:ea typeface="Calibri"/>
              </a:rPr>
              <a:t>FASTER</a:t>
            </a:r>
            <a:endParaRPr lang="en-US" sz="2600" b="0" u="none" strike="noStrike">
              <a:solidFill>
                <a:srgbClr val="FFFFFF"/>
              </a:solidFill>
              <a:effectLst/>
              <a:uFillTx/>
              <a:latin typeface="Arial"/>
            </a:endParaRPr>
          </a:p>
        </p:txBody>
      </p:sp>
      <p:sp>
        <p:nvSpPr>
          <p:cNvPr id="23" name="Text 13"/>
          <p:cNvSpPr/>
          <p:nvPr/>
        </p:nvSpPr>
        <p:spPr>
          <a:xfrm>
            <a:off x="6080760" y="987480"/>
            <a:ext cx="26514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A8BDD0"/>
                </a:solidFill>
                <a:effectLst/>
                <a:uFillTx/>
                <a:latin typeface="Calibri"/>
                <a:ea typeface="Calibri"/>
              </a:rPr>
              <a:t>Landing zones in hours, not weeks</a:t>
            </a:r>
            <a:endParaRPr lang="en-US" sz="1100" b="0" u="none" strike="noStrike">
              <a:solidFill>
                <a:srgbClr val="FFFFFF"/>
              </a:solidFill>
              <a:effectLst/>
              <a:uFillTx/>
              <a:latin typeface="Arial"/>
            </a:endParaRPr>
          </a:p>
        </p:txBody>
      </p:sp>
      <p:sp>
        <p:nvSpPr>
          <p:cNvPr id="24" name="Text 14"/>
          <p:cNvSpPr/>
          <p:nvPr/>
        </p:nvSpPr>
        <p:spPr>
          <a:xfrm>
            <a:off x="6537960" y="2075760"/>
            <a:ext cx="21942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0C8C8"/>
                </a:solidFill>
                <a:effectLst/>
                <a:uFillTx/>
                <a:latin typeface="Calibri"/>
                <a:ea typeface="Calibri"/>
              </a:rPr>
              <a:t>SAFER</a:t>
            </a:r>
            <a:endParaRPr lang="en-US" sz="2600" b="0" u="none" strike="noStrike">
              <a:solidFill>
                <a:srgbClr val="FFFFFF"/>
              </a:solidFill>
              <a:effectLst/>
              <a:uFillTx/>
              <a:latin typeface="Arial"/>
            </a:endParaRPr>
          </a:p>
        </p:txBody>
      </p:sp>
      <p:sp>
        <p:nvSpPr>
          <p:cNvPr id="25" name="Text 15"/>
          <p:cNvSpPr/>
          <p:nvPr/>
        </p:nvSpPr>
        <p:spPr>
          <a:xfrm>
            <a:off x="6537960" y="2450520"/>
            <a:ext cx="21942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A8BDD0"/>
                </a:solidFill>
                <a:effectLst/>
                <a:uFillTx/>
                <a:latin typeface="Calibri"/>
                <a:ea typeface="Calibri"/>
              </a:rPr>
              <a:t>Compliance enforced in code, not policy docs</a:t>
            </a:r>
            <a:endParaRPr lang="en-US" sz="1100" b="0" u="none" strike="noStrike">
              <a:solidFill>
                <a:srgbClr val="FFFFFF"/>
              </a:solidFill>
              <a:effectLst/>
              <a:uFillTx/>
              <a:latin typeface="Arial"/>
            </a:endParaRPr>
          </a:p>
        </p:txBody>
      </p:sp>
      <p:sp>
        <p:nvSpPr>
          <p:cNvPr id="26" name="Text 16"/>
          <p:cNvSpPr/>
          <p:nvPr/>
        </p:nvSpPr>
        <p:spPr>
          <a:xfrm>
            <a:off x="6172200" y="3337560"/>
            <a:ext cx="26514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0D68F"/>
                </a:solidFill>
                <a:effectLst/>
                <a:uFillTx/>
                <a:latin typeface="Calibri"/>
                <a:ea typeface="Calibri"/>
              </a:rPr>
              <a:t>SMARTER</a:t>
            </a:r>
            <a:endParaRPr lang="en-US" sz="2600" b="0" u="none" strike="noStrike">
              <a:solidFill>
                <a:srgbClr val="FFFFFF"/>
              </a:solidFill>
              <a:effectLst/>
              <a:uFillTx/>
              <a:latin typeface="Arial"/>
            </a:endParaRPr>
          </a:p>
        </p:txBody>
      </p:sp>
      <p:sp>
        <p:nvSpPr>
          <p:cNvPr id="27" name="Text 17"/>
          <p:cNvSpPr/>
          <p:nvPr/>
        </p:nvSpPr>
        <p:spPr>
          <a:xfrm>
            <a:off x="6172200" y="3767400"/>
            <a:ext cx="26514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A8BDD0"/>
                </a:solidFill>
                <a:effectLst/>
                <a:uFillTx/>
                <a:latin typeface="Calibri"/>
                <a:ea typeface="Calibri"/>
              </a:rPr>
              <a:t>Your engineers learn as the AI guides them</a:t>
            </a:r>
            <a:endParaRPr lang="en-US" sz="1100" b="0" u="none" strike="noStrike">
              <a:solidFill>
                <a:srgbClr val="FFFFFF"/>
              </a:solidFill>
              <a:effectLst/>
              <a:uFillTx/>
              <a:latin typeface="Arial"/>
            </a:endParaRPr>
          </a:p>
        </p:txBody>
      </p:sp>
      <p:sp>
        <p:nvSpPr>
          <p:cNvPr id="28" name="Shape 18"/>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 name="Text 19"/>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30" name="Text 20"/>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1 / 12</a:t>
            </a:r>
            <a:endParaRPr lang="en-US" sz="800" b="0" u="none" strike="noStrike">
              <a:solidFill>
                <a:srgbClr val="FFFFFF"/>
              </a:solidFill>
              <a:effectLst/>
              <a:uFillTx/>
              <a:latin typeface="Arial"/>
            </a:endParaRPr>
          </a:p>
        </p:txBody>
      </p:sp>
      <p:sp>
        <p:nvSpPr>
          <p:cNvPr id="31" name="Text 21"/>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2"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33"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The CCoE's Infrastructure Dilemma</a:t>
            </a:r>
            <a:endParaRPr lang="en-US" sz="2600" b="0" u="none" strike="noStrike">
              <a:solidFill>
                <a:srgbClr val="FFFFFF"/>
              </a:solidFill>
              <a:effectLst/>
              <a:uFillTx/>
              <a:latin typeface="Arial"/>
            </a:endParaRPr>
          </a:p>
        </p:txBody>
      </p:sp>
      <p:sp>
        <p:nvSpPr>
          <p:cNvPr id="34"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Why speed, quality, and governance are in constant conflict today</a:t>
            </a:r>
            <a:endParaRPr lang="en-US" sz="1200" b="0" u="none" strike="noStrike">
              <a:solidFill>
                <a:srgbClr val="FFFFFF"/>
              </a:solidFill>
              <a:effectLst/>
              <a:uFillTx/>
              <a:latin typeface="Arial"/>
            </a:endParaRPr>
          </a:p>
        </p:txBody>
      </p:sp>
      <p:sp>
        <p:nvSpPr>
          <p:cNvPr id="35"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37"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2 / 12</a:t>
            </a:r>
            <a:endParaRPr lang="en-US" sz="800" b="0" u="none" strike="noStrike">
              <a:solidFill>
                <a:srgbClr val="FFFFFF"/>
              </a:solidFill>
              <a:effectLst/>
              <a:uFillTx/>
              <a:latin typeface="Arial"/>
            </a:endParaRPr>
          </a:p>
        </p:txBody>
      </p:sp>
      <p:sp>
        <p:nvSpPr>
          <p:cNvPr id="38"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39" name="Shape 7"/>
          <p:cNvSpPr/>
          <p:nvPr/>
        </p:nvSpPr>
        <p:spPr>
          <a:xfrm>
            <a:off x="320040" y="1097280"/>
            <a:ext cx="2651400" cy="338292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 name="Shape 8"/>
          <p:cNvSpPr/>
          <p:nvPr/>
        </p:nvSpPr>
        <p:spPr>
          <a:xfrm>
            <a:off x="320040" y="1097280"/>
            <a:ext cx="2651400" cy="63720"/>
          </a:xfrm>
          <a:prstGeom prst="rect">
            <a:avLst/>
          </a:prstGeom>
          <a:solidFill>
            <a:srgbClr val="FFB830"/>
          </a:solidFill>
          <a:ln w="12700">
            <a:solidFill>
              <a:srgbClr val="FFB83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1" name="Text 9"/>
          <p:cNvSpPr/>
          <p:nvPr/>
        </p:nvSpPr>
        <p:spPr>
          <a:xfrm>
            <a:off x="548640" y="1325880"/>
            <a:ext cx="5025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rgbClr val="FFB830"/>
                </a:solidFill>
                <a:effectLst/>
                <a:uFillTx/>
                <a:latin typeface="Segoe UI Emoji"/>
                <a:ea typeface="Segoe UI Emoji"/>
              </a:rPr>
              <a:t>⏱</a:t>
            </a:r>
            <a:endParaRPr lang="en-US" sz="2600" b="0" u="none" strike="noStrike">
              <a:solidFill>
                <a:srgbClr val="FFFFFF"/>
              </a:solidFill>
              <a:effectLst/>
              <a:uFillTx/>
              <a:latin typeface="Arial"/>
            </a:endParaRPr>
          </a:p>
        </p:txBody>
      </p:sp>
      <p:sp>
        <p:nvSpPr>
          <p:cNvPr id="42" name="Text 10"/>
          <p:cNvSpPr/>
          <p:nvPr/>
        </p:nvSpPr>
        <p:spPr>
          <a:xfrm>
            <a:off x="502920" y="1874520"/>
            <a:ext cx="2285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alibri"/>
                <a:ea typeface="Calibri"/>
              </a:rPr>
              <a:t>Too Slow</a:t>
            </a:r>
            <a:endParaRPr lang="en-US" sz="1500" b="0" u="none" strike="noStrike">
              <a:solidFill>
                <a:srgbClr val="FFFFFF"/>
              </a:solidFill>
              <a:effectLst/>
              <a:uFillTx/>
              <a:latin typeface="Arial"/>
            </a:endParaRPr>
          </a:p>
        </p:txBody>
      </p:sp>
      <p:sp>
        <p:nvSpPr>
          <p:cNvPr id="43" name="Text 11"/>
          <p:cNvSpPr/>
          <p:nvPr/>
        </p:nvSpPr>
        <p:spPr>
          <a:xfrm>
            <a:off x="502920" y="2286000"/>
            <a:ext cx="2285640" cy="191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A8BDD0"/>
                </a:solidFill>
                <a:effectLst/>
                <a:uFillTx/>
                <a:latin typeface="Calibri"/>
                <a:ea typeface="Calibri"/>
              </a:rPr>
              <a:t>Landing zone provisioning takes days to weeks. Developers wait. Projects stall. The business sees the cloud as a bottleneck, not an accelerator.</a:t>
            </a:r>
            <a:endParaRPr lang="en-US" sz="1100" b="0" u="none" strike="noStrike">
              <a:solidFill>
                <a:srgbClr val="FFFFFF"/>
              </a:solidFill>
              <a:effectLst/>
              <a:uFillTx/>
              <a:latin typeface="Arial"/>
            </a:endParaRPr>
          </a:p>
        </p:txBody>
      </p:sp>
      <p:sp>
        <p:nvSpPr>
          <p:cNvPr id="44" name="Shape 12"/>
          <p:cNvSpPr/>
          <p:nvPr/>
        </p:nvSpPr>
        <p:spPr>
          <a:xfrm>
            <a:off x="3246120" y="1097280"/>
            <a:ext cx="2651400" cy="338292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 name="Shape 13"/>
          <p:cNvSpPr/>
          <p:nvPr/>
        </p:nvSpPr>
        <p:spPr>
          <a:xfrm>
            <a:off x="3246120" y="1097280"/>
            <a:ext cx="265140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46" name="Text 14"/>
          <p:cNvSpPr/>
          <p:nvPr/>
        </p:nvSpPr>
        <p:spPr>
          <a:xfrm>
            <a:off x="3474720" y="1325880"/>
            <a:ext cx="5025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rgbClr val="0070F3"/>
                </a:solidFill>
                <a:effectLst/>
                <a:uFillTx/>
                <a:latin typeface="Segoe UI Emoji"/>
                <a:ea typeface="Segoe UI Emoji"/>
              </a:rPr>
              <a:t>⚠</a:t>
            </a:r>
            <a:endParaRPr lang="en-US" sz="2600" b="0" u="none" strike="noStrike">
              <a:solidFill>
                <a:srgbClr val="FFFFFF"/>
              </a:solidFill>
              <a:effectLst/>
              <a:uFillTx/>
              <a:latin typeface="Arial"/>
            </a:endParaRPr>
          </a:p>
        </p:txBody>
      </p:sp>
      <p:sp>
        <p:nvSpPr>
          <p:cNvPr id="47" name="Text 15"/>
          <p:cNvSpPr/>
          <p:nvPr/>
        </p:nvSpPr>
        <p:spPr>
          <a:xfrm>
            <a:off x="3429000" y="1874520"/>
            <a:ext cx="2285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alibri"/>
                <a:ea typeface="Calibri"/>
              </a:rPr>
              <a:t>Technical Debt Accumulates</a:t>
            </a:r>
            <a:endParaRPr lang="en-US" sz="1500" b="0" u="none" strike="noStrike">
              <a:solidFill>
                <a:srgbClr val="FFFFFF"/>
              </a:solidFill>
              <a:effectLst/>
              <a:uFillTx/>
              <a:latin typeface="Arial"/>
            </a:endParaRPr>
          </a:p>
        </p:txBody>
      </p:sp>
      <p:sp>
        <p:nvSpPr>
          <p:cNvPr id="48" name="Text 16"/>
          <p:cNvSpPr/>
          <p:nvPr/>
        </p:nvSpPr>
        <p:spPr>
          <a:xfrm>
            <a:off x="3429000" y="2286000"/>
            <a:ext cx="2285640" cy="191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A8BDD0"/>
                </a:solidFill>
                <a:effectLst/>
                <a:uFillTx/>
                <a:latin typeface="Calibri"/>
                <a:ea typeface="Calibri"/>
              </a:rPr>
              <a:t>Bespoke, undocumented Terraform grows unchecked. Every new workload team reinvents the wheel — with their own security assumptions.</a:t>
            </a:r>
            <a:endParaRPr lang="en-US" sz="1100" b="0" u="none" strike="noStrike">
              <a:solidFill>
                <a:srgbClr val="FFFFFF"/>
              </a:solidFill>
              <a:effectLst/>
              <a:uFillTx/>
              <a:latin typeface="Arial"/>
            </a:endParaRPr>
          </a:p>
        </p:txBody>
      </p:sp>
      <p:sp>
        <p:nvSpPr>
          <p:cNvPr id="49" name="Shape 17"/>
          <p:cNvSpPr/>
          <p:nvPr/>
        </p:nvSpPr>
        <p:spPr>
          <a:xfrm>
            <a:off x="6172200" y="1097280"/>
            <a:ext cx="2651400" cy="338292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 name="Shape 18"/>
          <p:cNvSpPr/>
          <p:nvPr/>
        </p:nvSpPr>
        <p:spPr>
          <a:xfrm>
            <a:off x="6172200" y="1097280"/>
            <a:ext cx="2651400" cy="63720"/>
          </a:xfrm>
          <a:prstGeom prst="rect">
            <a:avLst/>
          </a:prstGeom>
          <a:solidFill>
            <a:srgbClr val="E05A5A"/>
          </a:solidFill>
          <a:ln w="12700">
            <a:solidFill>
              <a:srgbClr val="E05A5A"/>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51" name="Text 19"/>
          <p:cNvSpPr/>
          <p:nvPr/>
        </p:nvSpPr>
        <p:spPr>
          <a:xfrm>
            <a:off x="6400800" y="1325880"/>
            <a:ext cx="5025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rgbClr val="E05A5A"/>
                </a:solidFill>
                <a:effectLst/>
                <a:uFillTx/>
                <a:latin typeface="Segoe UI Emoji"/>
                <a:ea typeface="Segoe UI Emoji"/>
              </a:rPr>
              <a:t>📉</a:t>
            </a:r>
            <a:endParaRPr lang="en-US" sz="2600" b="0" u="none" strike="noStrike">
              <a:solidFill>
                <a:srgbClr val="FFFFFF"/>
              </a:solidFill>
              <a:effectLst/>
              <a:uFillTx/>
              <a:latin typeface="Arial"/>
            </a:endParaRPr>
          </a:p>
        </p:txBody>
      </p:sp>
      <p:sp>
        <p:nvSpPr>
          <p:cNvPr id="52" name="Text 20"/>
          <p:cNvSpPr/>
          <p:nvPr/>
        </p:nvSpPr>
        <p:spPr>
          <a:xfrm>
            <a:off x="6355080" y="1874520"/>
            <a:ext cx="2285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Calibri"/>
                <a:ea typeface="Calibri"/>
              </a:rPr>
              <a:t>Skills Gap Widens</a:t>
            </a:r>
            <a:endParaRPr lang="en-US" sz="1500" b="0" u="none" strike="noStrike">
              <a:solidFill>
                <a:srgbClr val="FFFFFF"/>
              </a:solidFill>
              <a:effectLst/>
              <a:uFillTx/>
              <a:latin typeface="Arial"/>
            </a:endParaRPr>
          </a:p>
        </p:txBody>
      </p:sp>
      <p:sp>
        <p:nvSpPr>
          <p:cNvPr id="53" name="Text 21"/>
          <p:cNvSpPr/>
          <p:nvPr/>
        </p:nvSpPr>
        <p:spPr>
          <a:xfrm>
            <a:off x="6355080" y="2286000"/>
            <a:ext cx="2285640" cy="191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A8BDD0"/>
                </a:solidFill>
                <a:effectLst/>
                <a:uFillTx/>
                <a:latin typeface="Calibri"/>
                <a:ea typeface="Calibri"/>
              </a:rPr>
              <a:t>Senior engineers are a bottleneck. Junior engineers copy-paste without understanding. The CCoE cannot scale through people alone.</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54"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55"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Today's Workflow: Manual, Sequential, Fragile</a:t>
            </a:r>
            <a:endParaRPr lang="en-US" sz="2600" b="0" u="none" strike="noStrike">
              <a:solidFill>
                <a:srgbClr val="FFFFFF"/>
              </a:solidFill>
              <a:effectLst/>
              <a:uFillTx/>
              <a:latin typeface="Arial"/>
            </a:endParaRPr>
          </a:p>
        </p:txBody>
      </p:sp>
      <p:sp>
        <p:nvSpPr>
          <p:cNvPr id="56"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Every LZaaS request passes through too many human hands before it reaches infrastructure</a:t>
            </a:r>
            <a:endParaRPr lang="en-US" sz="1200" b="0" u="none" strike="noStrike">
              <a:solidFill>
                <a:srgbClr val="FFFFFF"/>
              </a:solidFill>
              <a:effectLst/>
              <a:uFillTx/>
              <a:latin typeface="Arial"/>
            </a:endParaRPr>
          </a:p>
        </p:txBody>
      </p:sp>
      <p:sp>
        <p:nvSpPr>
          <p:cNvPr id="57"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59"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3 / 12</a:t>
            </a:r>
            <a:endParaRPr lang="en-US" sz="800" b="0" u="none" strike="noStrike">
              <a:solidFill>
                <a:srgbClr val="FFFFFF"/>
              </a:solidFill>
              <a:effectLst/>
              <a:uFillTx/>
              <a:latin typeface="Arial"/>
            </a:endParaRPr>
          </a:p>
        </p:txBody>
      </p:sp>
      <p:sp>
        <p:nvSpPr>
          <p:cNvPr id="60"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61" name="Shape 7"/>
          <p:cNvSpPr/>
          <p:nvPr/>
        </p:nvSpPr>
        <p:spPr>
          <a:xfrm>
            <a:off x="274320" y="1280160"/>
            <a:ext cx="1691280" cy="191988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 name="Shape 8"/>
          <p:cNvSpPr/>
          <p:nvPr/>
        </p:nvSpPr>
        <p:spPr>
          <a:xfrm>
            <a:off x="274320" y="1280160"/>
            <a:ext cx="1691280" cy="54360"/>
          </a:xfrm>
          <a:prstGeom prst="rect">
            <a:avLst/>
          </a:prstGeom>
          <a:solidFill>
            <a:srgbClr val="E05A5A"/>
          </a:solidFill>
          <a:ln w="12700">
            <a:solidFill>
              <a:srgbClr val="E05A5A"/>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63" name="Text 9"/>
          <p:cNvSpPr/>
          <p:nvPr/>
        </p:nvSpPr>
        <p:spPr>
          <a:xfrm>
            <a:off x="384120" y="1463040"/>
            <a:ext cx="14626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1. Request</a:t>
            </a:r>
            <a:endParaRPr lang="en-US" sz="1300" b="0" u="none" strike="noStrike">
              <a:solidFill>
                <a:srgbClr val="FFFFFF"/>
              </a:solidFill>
              <a:effectLst/>
              <a:uFillTx/>
              <a:latin typeface="Arial"/>
            </a:endParaRPr>
          </a:p>
        </p:txBody>
      </p:sp>
      <p:sp>
        <p:nvSpPr>
          <p:cNvPr id="64" name="Text 10"/>
          <p:cNvSpPr/>
          <p:nvPr/>
        </p:nvSpPr>
        <p:spPr>
          <a:xfrm>
            <a:off x="384120" y="1828800"/>
            <a:ext cx="146268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8BDD0"/>
                </a:solidFill>
                <a:effectLst/>
                <a:uFillTx/>
                <a:latin typeface="Calibri"/>
                <a:ea typeface="Calibri"/>
              </a:rPr>
              <a:t>Dev submits ticket to CCoE</a:t>
            </a:r>
            <a:endParaRPr lang="en-US" sz="1050" b="0" u="none" strike="noStrike">
              <a:solidFill>
                <a:srgbClr val="FFFFFF"/>
              </a:solidFill>
              <a:effectLst/>
              <a:uFillTx/>
              <a:latin typeface="Arial"/>
            </a:endParaRPr>
          </a:p>
        </p:txBody>
      </p:sp>
      <p:sp>
        <p:nvSpPr>
          <p:cNvPr id="65" name="Shape 11"/>
          <p:cNvSpPr/>
          <p:nvPr/>
        </p:nvSpPr>
        <p:spPr>
          <a:xfrm>
            <a:off x="1993320" y="2167200"/>
            <a:ext cx="402120" cy="36360"/>
          </a:xfrm>
          <a:prstGeom prst="rect">
            <a:avLst/>
          </a:prstGeom>
          <a:solidFill>
            <a:srgbClr val="E05A5A"/>
          </a:solidFill>
          <a:ln w="12700">
            <a:solidFill>
              <a:srgbClr val="E05A5A"/>
            </a:solidFill>
            <a:round/>
          </a:ln>
        </p:spPr>
        <p:style>
          <a:lnRef idx="0"/>
          <a:fillRef idx="0"/>
          <a:effectRef idx="0"/>
          <a:fontRef idx="minor"/>
        </p:style>
        <p:txBody>
          <a:bodyPr lIns="90000" tIns="-8280" rIns="90000" bIns="-8280" anchor="t">
            <a:noAutofit/>
          </a:bodyPr>
          <a:p>
            <a:endParaRPr lang="en-US" sz="1800" b="0" u="none" strike="noStrike">
              <a:solidFill>
                <a:srgbClr val="FFFFFF"/>
              </a:solidFill>
              <a:effectLst/>
              <a:uFillTx/>
              <a:latin typeface="Arial"/>
            </a:endParaRPr>
          </a:p>
        </p:txBody>
      </p:sp>
      <p:sp>
        <p:nvSpPr>
          <p:cNvPr id="66" name="Text 12"/>
          <p:cNvSpPr/>
          <p:nvPr/>
        </p:nvSpPr>
        <p:spPr>
          <a:xfrm>
            <a:off x="2240280" y="2075760"/>
            <a:ext cx="18252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05A5A"/>
                </a:solidFill>
                <a:effectLst/>
                <a:uFillTx/>
                <a:latin typeface="Calibri"/>
                <a:ea typeface="Calibri"/>
              </a:rPr>
              <a:t>▶</a:t>
            </a:r>
            <a:endParaRPr lang="en-US" sz="1100" b="0" u="none" strike="noStrike">
              <a:solidFill>
                <a:srgbClr val="FFFFFF"/>
              </a:solidFill>
              <a:effectLst/>
              <a:uFillTx/>
              <a:latin typeface="Arial"/>
            </a:endParaRPr>
          </a:p>
        </p:txBody>
      </p:sp>
      <p:sp>
        <p:nvSpPr>
          <p:cNvPr id="67" name="Shape 13"/>
          <p:cNvSpPr/>
          <p:nvPr/>
        </p:nvSpPr>
        <p:spPr>
          <a:xfrm>
            <a:off x="2148840" y="1280160"/>
            <a:ext cx="1691280" cy="191988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 name="Shape 14"/>
          <p:cNvSpPr/>
          <p:nvPr/>
        </p:nvSpPr>
        <p:spPr>
          <a:xfrm>
            <a:off x="2148840" y="1280160"/>
            <a:ext cx="1691280" cy="54360"/>
          </a:xfrm>
          <a:prstGeom prst="rect">
            <a:avLst/>
          </a:prstGeom>
          <a:solidFill>
            <a:srgbClr val="E05A5A"/>
          </a:solidFill>
          <a:ln w="12700">
            <a:solidFill>
              <a:srgbClr val="E05A5A"/>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69" name="Text 15"/>
          <p:cNvSpPr/>
          <p:nvPr/>
        </p:nvSpPr>
        <p:spPr>
          <a:xfrm>
            <a:off x="2258640" y="1463040"/>
            <a:ext cx="14626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2. Review</a:t>
            </a:r>
            <a:endParaRPr lang="en-US" sz="1300" b="0" u="none" strike="noStrike">
              <a:solidFill>
                <a:srgbClr val="FFFFFF"/>
              </a:solidFill>
              <a:effectLst/>
              <a:uFillTx/>
              <a:latin typeface="Arial"/>
            </a:endParaRPr>
          </a:p>
        </p:txBody>
      </p:sp>
      <p:sp>
        <p:nvSpPr>
          <p:cNvPr id="70" name="Text 16"/>
          <p:cNvSpPr/>
          <p:nvPr/>
        </p:nvSpPr>
        <p:spPr>
          <a:xfrm>
            <a:off x="2258640" y="1828800"/>
            <a:ext cx="146268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8BDD0"/>
                </a:solidFill>
                <a:effectLst/>
                <a:uFillTx/>
                <a:latin typeface="Calibri"/>
                <a:ea typeface="Calibri"/>
              </a:rPr>
              <a:t>Senior engineer interprets intent</a:t>
            </a:r>
            <a:endParaRPr lang="en-US" sz="1050" b="0" u="none" strike="noStrike">
              <a:solidFill>
                <a:srgbClr val="FFFFFF"/>
              </a:solidFill>
              <a:effectLst/>
              <a:uFillTx/>
              <a:latin typeface="Arial"/>
            </a:endParaRPr>
          </a:p>
        </p:txBody>
      </p:sp>
      <p:sp>
        <p:nvSpPr>
          <p:cNvPr id="71" name="Shape 17"/>
          <p:cNvSpPr/>
          <p:nvPr/>
        </p:nvSpPr>
        <p:spPr>
          <a:xfrm>
            <a:off x="3867840" y="2167200"/>
            <a:ext cx="402120" cy="36360"/>
          </a:xfrm>
          <a:prstGeom prst="rect">
            <a:avLst/>
          </a:prstGeom>
          <a:solidFill>
            <a:srgbClr val="E05A5A"/>
          </a:solidFill>
          <a:ln w="12700">
            <a:solidFill>
              <a:srgbClr val="E05A5A"/>
            </a:solidFill>
            <a:round/>
          </a:ln>
        </p:spPr>
        <p:style>
          <a:lnRef idx="0"/>
          <a:fillRef idx="0"/>
          <a:effectRef idx="0"/>
          <a:fontRef idx="minor"/>
        </p:style>
        <p:txBody>
          <a:bodyPr lIns="90000" tIns="-8280" rIns="90000" bIns="-8280" anchor="t">
            <a:noAutofit/>
          </a:bodyPr>
          <a:p>
            <a:endParaRPr lang="en-US" sz="1800" b="0" u="none" strike="noStrike">
              <a:solidFill>
                <a:srgbClr val="FFFFFF"/>
              </a:solidFill>
              <a:effectLst/>
              <a:uFillTx/>
              <a:latin typeface="Arial"/>
            </a:endParaRPr>
          </a:p>
        </p:txBody>
      </p:sp>
      <p:sp>
        <p:nvSpPr>
          <p:cNvPr id="72" name="Text 18"/>
          <p:cNvSpPr/>
          <p:nvPr/>
        </p:nvSpPr>
        <p:spPr>
          <a:xfrm>
            <a:off x="4114800" y="2075760"/>
            <a:ext cx="18252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05A5A"/>
                </a:solidFill>
                <a:effectLst/>
                <a:uFillTx/>
                <a:latin typeface="Calibri"/>
                <a:ea typeface="Calibri"/>
              </a:rPr>
              <a:t>▶</a:t>
            </a:r>
            <a:endParaRPr lang="en-US" sz="1100" b="0" u="none" strike="noStrike">
              <a:solidFill>
                <a:srgbClr val="FFFFFF"/>
              </a:solidFill>
              <a:effectLst/>
              <a:uFillTx/>
              <a:latin typeface="Arial"/>
            </a:endParaRPr>
          </a:p>
        </p:txBody>
      </p:sp>
      <p:sp>
        <p:nvSpPr>
          <p:cNvPr id="73" name="Shape 19"/>
          <p:cNvSpPr/>
          <p:nvPr/>
        </p:nvSpPr>
        <p:spPr>
          <a:xfrm>
            <a:off x="4023360" y="1280160"/>
            <a:ext cx="1691280" cy="191988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 name="Shape 20"/>
          <p:cNvSpPr/>
          <p:nvPr/>
        </p:nvSpPr>
        <p:spPr>
          <a:xfrm>
            <a:off x="4023360" y="1280160"/>
            <a:ext cx="1691280" cy="54360"/>
          </a:xfrm>
          <a:prstGeom prst="rect">
            <a:avLst/>
          </a:prstGeom>
          <a:solidFill>
            <a:srgbClr val="E05A5A"/>
          </a:solidFill>
          <a:ln w="12700">
            <a:solidFill>
              <a:srgbClr val="E05A5A"/>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75" name="Text 21"/>
          <p:cNvSpPr/>
          <p:nvPr/>
        </p:nvSpPr>
        <p:spPr>
          <a:xfrm>
            <a:off x="4133160" y="1463040"/>
            <a:ext cx="14626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3. Author</a:t>
            </a:r>
            <a:endParaRPr lang="en-US" sz="1300" b="0" u="none" strike="noStrike">
              <a:solidFill>
                <a:srgbClr val="FFFFFF"/>
              </a:solidFill>
              <a:effectLst/>
              <a:uFillTx/>
              <a:latin typeface="Arial"/>
            </a:endParaRPr>
          </a:p>
        </p:txBody>
      </p:sp>
      <p:sp>
        <p:nvSpPr>
          <p:cNvPr id="76" name="Text 22"/>
          <p:cNvSpPr/>
          <p:nvPr/>
        </p:nvSpPr>
        <p:spPr>
          <a:xfrm>
            <a:off x="4133160" y="1828800"/>
            <a:ext cx="146268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8BDD0"/>
                </a:solidFill>
                <a:effectLst/>
                <a:uFillTx/>
                <a:latin typeface="Calibri"/>
                <a:ea typeface="Calibri"/>
              </a:rPr>
              <a:t>Terraform written from scratch or copy/pasted</a:t>
            </a:r>
            <a:endParaRPr lang="en-US" sz="1050" b="0" u="none" strike="noStrike">
              <a:solidFill>
                <a:srgbClr val="FFFFFF"/>
              </a:solidFill>
              <a:effectLst/>
              <a:uFillTx/>
              <a:latin typeface="Arial"/>
            </a:endParaRPr>
          </a:p>
        </p:txBody>
      </p:sp>
      <p:sp>
        <p:nvSpPr>
          <p:cNvPr id="77" name="Shape 23"/>
          <p:cNvSpPr/>
          <p:nvPr/>
        </p:nvSpPr>
        <p:spPr>
          <a:xfrm>
            <a:off x="5742360" y="2167200"/>
            <a:ext cx="402120" cy="36360"/>
          </a:xfrm>
          <a:prstGeom prst="rect">
            <a:avLst/>
          </a:prstGeom>
          <a:solidFill>
            <a:srgbClr val="E05A5A"/>
          </a:solidFill>
          <a:ln w="12700">
            <a:solidFill>
              <a:srgbClr val="E05A5A"/>
            </a:solidFill>
            <a:round/>
          </a:ln>
        </p:spPr>
        <p:style>
          <a:lnRef idx="0"/>
          <a:fillRef idx="0"/>
          <a:effectRef idx="0"/>
          <a:fontRef idx="minor"/>
        </p:style>
        <p:txBody>
          <a:bodyPr lIns="90000" tIns="-8280" rIns="90000" bIns="-8280" anchor="t">
            <a:noAutofit/>
          </a:bodyPr>
          <a:p>
            <a:endParaRPr lang="en-US" sz="1800" b="0" u="none" strike="noStrike">
              <a:solidFill>
                <a:srgbClr val="FFFFFF"/>
              </a:solidFill>
              <a:effectLst/>
              <a:uFillTx/>
              <a:latin typeface="Arial"/>
            </a:endParaRPr>
          </a:p>
        </p:txBody>
      </p:sp>
      <p:sp>
        <p:nvSpPr>
          <p:cNvPr id="78" name="Text 24"/>
          <p:cNvSpPr/>
          <p:nvPr/>
        </p:nvSpPr>
        <p:spPr>
          <a:xfrm>
            <a:off x="5989320" y="2075760"/>
            <a:ext cx="18252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05A5A"/>
                </a:solidFill>
                <a:effectLst/>
                <a:uFillTx/>
                <a:latin typeface="Calibri"/>
                <a:ea typeface="Calibri"/>
              </a:rPr>
              <a:t>▶</a:t>
            </a:r>
            <a:endParaRPr lang="en-US" sz="1100" b="0" u="none" strike="noStrike">
              <a:solidFill>
                <a:srgbClr val="FFFFFF"/>
              </a:solidFill>
              <a:effectLst/>
              <a:uFillTx/>
              <a:latin typeface="Arial"/>
            </a:endParaRPr>
          </a:p>
        </p:txBody>
      </p:sp>
      <p:sp>
        <p:nvSpPr>
          <p:cNvPr id="79" name="Shape 25"/>
          <p:cNvSpPr/>
          <p:nvPr/>
        </p:nvSpPr>
        <p:spPr>
          <a:xfrm>
            <a:off x="5897880" y="1280160"/>
            <a:ext cx="1417320" cy="191988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0" name="Shape 26"/>
          <p:cNvSpPr/>
          <p:nvPr/>
        </p:nvSpPr>
        <p:spPr>
          <a:xfrm>
            <a:off x="5897880" y="1280160"/>
            <a:ext cx="1417320" cy="54360"/>
          </a:xfrm>
          <a:prstGeom prst="rect">
            <a:avLst/>
          </a:prstGeom>
          <a:solidFill>
            <a:srgbClr val="E05A5A"/>
          </a:solidFill>
          <a:ln w="12700">
            <a:solidFill>
              <a:srgbClr val="E05A5A"/>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81" name="Text 27"/>
          <p:cNvSpPr/>
          <p:nvPr/>
        </p:nvSpPr>
        <p:spPr>
          <a:xfrm>
            <a:off x="6007680" y="1463040"/>
            <a:ext cx="14626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4. Review PR</a:t>
            </a:r>
            <a:endParaRPr lang="en-US" sz="1300" b="0" u="none" strike="noStrike">
              <a:solidFill>
                <a:srgbClr val="FFFFFF"/>
              </a:solidFill>
              <a:effectLst/>
              <a:uFillTx/>
              <a:latin typeface="Arial"/>
            </a:endParaRPr>
          </a:p>
        </p:txBody>
      </p:sp>
      <p:sp>
        <p:nvSpPr>
          <p:cNvPr id="82" name="Text 28"/>
          <p:cNvSpPr/>
          <p:nvPr/>
        </p:nvSpPr>
        <p:spPr>
          <a:xfrm>
            <a:off x="6007680" y="1828800"/>
            <a:ext cx="146268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8BDD0"/>
                </a:solidFill>
                <a:effectLst/>
                <a:uFillTx/>
                <a:latin typeface="Calibri"/>
                <a:ea typeface="Calibri"/>
              </a:rPr>
              <a:t>Manual policy &amp; naming check</a:t>
            </a:r>
            <a:endParaRPr lang="en-US" sz="1050" b="0" u="none" strike="noStrike">
              <a:solidFill>
                <a:srgbClr val="FFFFFF"/>
              </a:solidFill>
              <a:effectLst/>
              <a:uFillTx/>
              <a:latin typeface="Arial"/>
            </a:endParaRPr>
          </a:p>
        </p:txBody>
      </p:sp>
      <p:sp>
        <p:nvSpPr>
          <p:cNvPr id="83" name="Shape 29"/>
          <p:cNvSpPr/>
          <p:nvPr/>
        </p:nvSpPr>
        <p:spPr>
          <a:xfrm>
            <a:off x="7328880" y="2167200"/>
            <a:ext cx="402120" cy="36360"/>
          </a:xfrm>
          <a:prstGeom prst="rect">
            <a:avLst/>
          </a:prstGeom>
          <a:solidFill>
            <a:srgbClr val="E05A5A"/>
          </a:solidFill>
          <a:ln w="12700">
            <a:solidFill>
              <a:srgbClr val="E05A5A"/>
            </a:solidFill>
            <a:round/>
          </a:ln>
        </p:spPr>
        <p:style>
          <a:lnRef idx="0"/>
          <a:fillRef idx="0"/>
          <a:effectRef idx="0"/>
          <a:fontRef idx="minor"/>
        </p:style>
        <p:txBody>
          <a:bodyPr lIns="90000" tIns="-8280" rIns="90000" bIns="-8280" anchor="t">
            <a:noAutofit/>
          </a:bodyPr>
          <a:p>
            <a:endParaRPr lang="en-US" sz="1800" b="0" u="none" strike="noStrike">
              <a:solidFill>
                <a:srgbClr val="FFFFFF"/>
              </a:solidFill>
              <a:effectLst/>
              <a:uFillTx/>
              <a:latin typeface="Arial"/>
            </a:endParaRPr>
          </a:p>
        </p:txBody>
      </p:sp>
      <p:sp>
        <p:nvSpPr>
          <p:cNvPr id="84" name="Text 30"/>
          <p:cNvSpPr/>
          <p:nvPr/>
        </p:nvSpPr>
        <p:spPr>
          <a:xfrm>
            <a:off x="7575840" y="2075760"/>
            <a:ext cx="18252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05A5A"/>
                </a:solidFill>
                <a:effectLst/>
                <a:uFillTx/>
                <a:latin typeface="Calibri"/>
                <a:ea typeface="Calibri"/>
              </a:rPr>
              <a:t>▶</a:t>
            </a:r>
            <a:endParaRPr lang="en-US" sz="1100" b="0" u="none" strike="noStrike">
              <a:solidFill>
                <a:srgbClr val="FFFFFF"/>
              </a:solidFill>
              <a:effectLst/>
              <a:uFillTx/>
              <a:latin typeface="Arial"/>
            </a:endParaRPr>
          </a:p>
        </p:txBody>
      </p:sp>
      <p:sp>
        <p:nvSpPr>
          <p:cNvPr id="85" name="Shape 31"/>
          <p:cNvSpPr/>
          <p:nvPr/>
        </p:nvSpPr>
        <p:spPr>
          <a:xfrm>
            <a:off x="7484400" y="1280160"/>
            <a:ext cx="1431000" cy="191988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6" name="Shape 32"/>
          <p:cNvSpPr/>
          <p:nvPr/>
        </p:nvSpPr>
        <p:spPr>
          <a:xfrm>
            <a:off x="7484400" y="1280160"/>
            <a:ext cx="1431000" cy="54360"/>
          </a:xfrm>
          <a:prstGeom prst="rect">
            <a:avLst/>
          </a:prstGeom>
          <a:solidFill>
            <a:srgbClr val="E05A5A"/>
          </a:solidFill>
          <a:ln w="12700">
            <a:solidFill>
              <a:srgbClr val="E05A5A"/>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87" name="Text 33"/>
          <p:cNvSpPr/>
          <p:nvPr/>
        </p:nvSpPr>
        <p:spPr>
          <a:xfrm>
            <a:off x="7594200" y="1463040"/>
            <a:ext cx="14626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5. Deploy</a:t>
            </a:r>
            <a:endParaRPr lang="en-US" sz="1300" b="0" u="none" strike="noStrike">
              <a:solidFill>
                <a:srgbClr val="FFFFFF"/>
              </a:solidFill>
              <a:effectLst/>
              <a:uFillTx/>
              <a:latin typeface="Arial"/>
            </a:endParaRPr>
          </a:p>
        </p:txBody>
      </p:sp>
      <p:sp>
        <p:nvSpPr>
          <p:cNvPr id="88" name="Text 34"/>
          <p:cNvSpPr/>
          <p:nvPr/>
        </p:nvSpPr>
        <p:spPr>
          <a:xfrm>
            <a:off x="7594200" y="1828800"/>
            <a:ext cx="146268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8BDD0"/>
                </a:solidFill>
                <a:effectLst/>
                <a:uFillTx/>
                <a:latin typeface="Calibri"/>
                <a:ea typeface="Calibri"/>
              </a:rPr>
              <a:t>Apply — often with surprises</a:t>
            </a:r>
            <a:endParaRPr lang="en-US" sz="1050" b="0" u="none" strike="noStrike">
              <a:solidFill>
                <a:srgbClr val="FFFFFF"/>
              </a:solidFill>
              <a:effectLst/>
              <a:uFillTx/>
              <a:latin typeface="Arial"/>
            </a:endParaRPr>
          </a:p>
        </p:txBody>
      </p:sp>
      <p:sp>
        <p:nvSpPr>
          <p:cNvPr id="89" name="Shape 35"/>
          <p:cNvSpPr/>
          <p:nvPr/>
        </p:nvSpPr>
        <p:spPr>
          <a:xfrm>
            <a:off x="274320" y="3401640"/>
            <a:ext cx="8595000" cy="1188360"/>
          </a:xfrm>
          <a:prstGeom prst="rect">
            <a:avLst/>
          </a:prstGeom>
          <a:solidFill>
            <a:srgbClr val="1A0A0A"/>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0" name="Shape 36"/>
          <p:cNvSpPr/>
          <p:nvPr/>
        </p:nvSpPr>
        <p:spPr>
          <a:xfrm>
            <a:off x="274320" y="3401640"/>
            <a:ext cx="8595000" cy="54360"/>
          </a:xfrm>
          <a:prstGeom prst="rect">
            <a:avLst/>
          </a:prstGeom>
          <a:solidFill>
            <a:srgbClr val="E05A5A"/>
          </a:solidFill>
          <a:ln w="12700">
            <a:solidFill>
              <a:srgbClr val="E05A5A"/>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91" name="Text 37"/>
          <p:cNvSpPr/>
          <p:nvPr/>
        </p:nvSpPr>
        <p:spPr>
          <a:xfrm>
            <a:off x="502920" y="3493080"/>
            <a:ext cx="8229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201" strike="noStrike">
                <a:solidFill>
                  <a:srgbClr val="E05A5A"/>
                </a:solidFill>
                <a:effectLst/>
                <a:uFillTx/>
                <a:latin typeface="Calibri"/>
                <a:ea typeface="Calibri"/>
              </a:rPr>
              <a:t>REAL COST OF THE STATUS QUO</a:t>
            </a:r>
            <a:endParaRPr lang="en-US" sz="900" b="0" u="none" strike="noStrike">
              <a:solidFill>
                <a:srgbClr val="FFFFFF"/>
              </a:solidFill>
              <a:effectLst/>
              <a:uFillTx/>
              <a:latin typeface="Arial"/>
            </a:endParaRPr>
          </a:p>
        </p:txBody>
      </p:sp>
      <p:sp>
        <p:nvSpPr>
          <p:cNvPr id="92" name="Text 38"/>
          <p:cNvSpPr/>
          <p:nvPr/>
        </p:nvSpPr>
        <p:spPr>
          <a:xfrm>
            <a:off x="502920" y="3794760"/>
            <a:ext cx="20113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B830"/>
                </a:solidFill>
                <a:effectLst/>
                <a:uFillTx/>
                <a:latin typeface="Calibri"/>
                <a:ea typeface="Calibri"/>
              </a:rPr>
              <a:t>3–10 days</a:t>
            </a:r>
            <a:endParaRPr lang="en-US" sz="1800" b="0" u="none" strike="noStrike">
              <a:solidFill>
                <a:srgbClr val="FFFFFF"/>
              </a:solidFill>
              <a:effectLst/>
              <a:uFillTx/>
              <a:latin typeface="Arial"/>
            </a:endParaRPr>
          </a:p>
        </p:txBody>
      </p:sp>
      <p:sp>
        <p:nvSpPr>
          <p:cNvPr id="93" name="Text 39"/>
          <p:cNvSpPr/>
          <p:nvPr/>
        </p:nvSpPr>
        <p:spPr>
          <a:xfrm>
            <a:off x="502920" y="4133160"/>
            <a:ext cx="20113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DD0"/>
                </a:solidFill>
                <a:effectLst/>
                <a:uFillTx/>
                <a:latin typeface="Calibri"/>
                <a:ea typeface="Calibri"/>
              </a:rPr>
              <a:t>avg. LZaaS lead time</a:t>
            </a:r>
            <a:endParaRPr lang="en-US" sz="950" b="0" u="none" strike="noStrike">
              <a:solidFill>
                <a:srgbClr val="FFFFFF"/>
              </a:solidFill>
              <a:effectLst/>
              <a:uFillTx/>
              <a:latin typeface="Arial"/>
            </a:endParaRPr>
          </a:p>
        </p:txBody>
      </p:sp>
      <p:sp>
        <p:nvSpPr>
          <p:cNvPr id="94" name="Text 40"/>
          <p:cNvSpPr/>
          <p:nvPr/>
        </p:nvSpPr>
        <p:spPr>
          <a:xfrm>
            <a:off x="2651760" y="3794760"/>
            <a:ext cx="20113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B830"/>
                </a:solidFill>
                <a:effectLst/>
                <a:uFillTx/>
                <a:latin typeface="Calibri"/>
                <a:ea typeface="Calibri"/>
              </a:rPr>
              <a:t>40–60%</a:t>
            </a:r>
            <a:endParaRPr lang="en-US" sz="1800" b="0" u="none" strike="noStrike">
              <a:solidFill>
                <a:srgbClr val="FFFFFF"/>
              </a:solidFill>
              <a:effectLst/>
              <a:uFillTx/>
              <a:latin typeface="Arial"/>
            </a:endParaRPr>
          </a:p>
        </p:txBody>
      </p:sp>
      <p:sp>
        <p:nvSpPr>
          <p:cNvPr id="95" name="Text 41"/>
          <p:cNvSpPr/>
          <p:nvPr/>
        </p:nvSpPr>
        <p:spPr>
          <a:xfrm>
            <a:off x="2651760" y="4133160"/>
            <a:ext cx="20113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DD0"/>
                </a:solidFill>
                <a:effectLst/>
                <a:uFillTx/>
                <a:latin typeface="Calibri"/>
                <a:ea typeface="Calibri"/>
              </a:rPr>
              <a:t>of drift caused by undocumented overrides</a:t>
            </a:r>
            <a:endParaRPr lang="en-US" sz="950" b="0" u="none" strike="noStrike">
              <a:solidFill>
                <a:srgbClr val="FFFFFF"/>
              </a:solidFill>
              <a:effectLst/>
              <a:uFillTx/>
              <a:latin typeface="Arial"/>
            </a:endParaRPr>
          </a:p>
        </p:txBody>
      </p:sp>
      <p:sp>
        <p:nvSpPr>
          <p:cNvPr id="96" name="Text 42"/>
          <p:cNvSpPr/>
          <p:nvPr/>
        </p:nvSpPr>
        <p:spPr>
          <a:xfrm>
            <a:off x="4800600" y="3794760"/>
            <a:ext cx="20113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B830"/>
                </a:solidFill>
                <a:effectLst/>
                <a:uFillTx/>
                <a:latin typeface="Calibri"/>
                <a:ea typeface="Calibri"/>
              </a:rPr>
              <a:t>1 senior</a:t>
            </a:r>
            <a:endParaRPr lang="en-US" sz="1800" b="0" u="none" strike="noStrike">
              <a:solidFill>
                <a:srgbClr val="FFFFFF"/>
              </a:solidFill>
              <a:effectLst/>
              <a:uFillTx/>
              <a:latin typeface="Arial"/>
            </a:endParaRPr>
          </a:p>
        </p:txBody>
      </p:sp>
      <p:sp>
        <p:nvSpPr>
          <p:cNvPr id="97" name="Text 43"/>
          <p:cNvSpPr/>
          <p:nvPr/>
        </p:nvSpPr>
        <p:spPr>
          <a:xfrm>
            <a:off x="4800600" y="4133160"/>
            <a:ext cx="20113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DD0"/>
                </a:solidFill>
                <a:effectLst/>
                <a:uFillTx/>
                <a:latin typeface="Calibri"/>
                <a:ea typeface="Calibri"/>
              </a:rPr>
              <a:t>engineer bottleneck per request</a:t>
            </a:r>
            <a:endParaRPr lang="en-US" sz="950" b="0" u="none" strike="noStrike">
              <a:solidFill>
                <a:srgbClr val="FFFFFF"/>
              </a:solidFill>
              <a:effectLst/>
              <a:uFillTx/>
              <a:latin typeface="Arial"/>
            </a:endParaRPr>
          </a:p>
        </p:txBody>
      </p:sp>
      <p:sp>
        <p:nvSpPr>
          <p:cNvPr id="98" name="Text 44"/>
          <p:cNvSpPr/>
          <p:nvPr/>
        </p:nvSpPr>
        <p:spPr>
          <a:xfrm>
            <a:off x="6949440" y="3794760"/>
            <a:ext cx="20113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B830"/>
                </a:solidFill>
                <a:effectLst/>
                <a:uFillTx/>
                <a:latin typeface="Calibri"/>
                <a:ea typeface="Calibri"/>
              </a:rPr>
              <a:t>0 audit</a:t>
            </a:r>
            <a:endParaRPr lang="en-US" sz="1800" b="0" u="none" strike="noStrike">
              <a:solidFill>
                <a:srgbClr val="FFFFFF"/>
              </a:solidFill>
              <a:effectLst/>
              <a:uFillTx/>
              <a:latin typeface="Arial"/>
            </a:endParaRPr>
          </a:p>
        </p:txBody>
      </p:sp>
      <p:sp>
        <p:nvSpPr>
          <p:cNvPr id="99" name="Text 45"/>
          <p:cNvSpPr/>
          <p:nvPr/>
        </p:nvSpPr>
        <p:spPr>
          <a:xfrm>
            <a:off x="6949440" y="4133160"/>
            <a:ext cx="20113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DD0"/>
                </a:solidFill>
                <a:effectLst/>
                <a:uFillTx/>
                <a:latin typeface="Calibri"/>
                <a:ea typeface="Calibri"/>
              </a:rPr>
              <a:t>trail on AI-assisted changes today</a:t>
            </a:r>
            <a:endParaRPr lang="en-US"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00"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101"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The Solution: AI-Augmented WAM via MCP</a:t>
            </a:r>
            <a:endParaRPr lang="en-US" sz="2600" b="0" u="none" strike="noStrike">
              <a:solidFill>
                <a:srgbClr val="FFFFFF"/>
              </a:solidFill>
              <a:effectLst/>
              <a:uFillTx/>
              <a:latin typeface="Arial"/>
            </a:endParaRPr>
          </a:p>
        </p:txBody>
      </p:sp>
      <p:sp>
        <p:nvSpPr>
          <p:cNvPr id="102"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CloudNation's Well-Architected Modules, exposed to AI through a purpose-built Model Context Protocol server</a:t>
            </a:r>
            <a:endParaRPr lang="en-US" sz="1200" b="0" u="none" strike="noStrike">
              <a:solidFill>
                <a:srgbClr val="FFFFFF"/>
              </a:solidFill>
              <a:effectLst/>
              <a:uFillTx/>
              <a:latin typeface="Arial"/>
            </a:endParaRPr>
          </a:p>
        </p:txBody>
      </p:sp>
      <p:sp>
        <p:nvSpPr>
          <p:cNvPr id="103"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4"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105"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4 / 12</a:t>
            </a:r>
            <a:endParaRPr lang="en-US" sz="800" b="0" u="none" strike="noStrike">
              <a:solidFill>
                <a:srgbClr val="FFFFFF"/>
              </a:solidFill>
              <a:effectLst/>
              <a:uFillTx/>
              <a:latin typeface="Arial"/>
            </a:endParaRPr>
          </a:p>
        </p:txBody>
      </p:sp>
      <p:sp>
        <p:nvSpPr>
          <p:cNvPr id="106"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107" name="Shape 7"/>
          <p:cNvSpPr/>
          <p:nvPr/>
        </p:nvSpPr>
        <p:spPr>
          <a:xfrm>
            <a:off x="274320" y="1078920"/>
            <a:ext cx="2651400" cy="356580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8" name="Shape 8"/>
          <p:cNvSpPr/>
          <p:nvPr/>
        </p:nvSpPr>
        <p:spPr>
          <a:xfrm>
            <a:off x="274320" y="1078920"/>
            <a:ext cx="2651400" cy="72720"/>
          </a:xfrm>
          <a:prstGeom prst="rect">
            <a:avLst/>
          </a:prstGeom>
          <a:solidFill>
            <a:srgbClr val="0070F3"/>
          </a:solidFill>
          <a:ln w="12700">
            <a:solidFill>
              <a:srgbClr val="0070F3"/>
            </a:solidFill>
            <a:round/>
          </a:ln>
        </p:spPr>
        <p:style>
          <a:lnRef idx="0"/>
          <a:fillRef idx="0"/>
          <a:effectRef idx="0"/>
          <a:fontRef idx="minor"/>
        </p:style>
        <p:txBody>
          <a:bodyPr lIns="90000" tIns="28080" rIns="90000" bIns="28080" anchor="t">
            <a:noAutofit/>
          </a:bodyPr>
          <a:p>
            <a:endParaRPr lang="en-US" sz="1800" b="0" u="none" strike="noStrike">
              <a:solidFill>
                <a:srgbClr val="FFFFFF"/>
              </a:solidFill>
              <a:effectLst/>
              <a:uFillTx/>
              <a:latin typeface="Arial"/>
            </a:endParaRPr>
          </a:p>
        </p:txBody>
      </p:sp>
      <p:sp>
        <p:nvSpPr>
          <p:cNvPr id="109" name="Text 9"/>
          <p:cNvSpPr/>
          <p:nvPr/>
        </p:nvSpPr>
        <p:spPr>
          <a:xfrm>
            <a:off x="475560" y="1261800"/>
            <a:ext cx="22399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070F3"/>
                </a:solidFill>
                <a:effectLst/>
                <a:uFillTx/>
                <a:latin typeface="Calibri"/>
                <a:ea typeface="Calibri"/>
              </a:rPr>
              <a:t>WAM</a:t>
            </a:r>
            <a:endParaRPr lang="en-US" sz="2800" b="0" u="none" strike="noStrike">
              <a:solidFill>
                <a:srgbClr val="FFFFFF"/>
              </a:solidFill>
              <a:effectLst/>
              <a:uFillTx/>
              <a:latin typeface="Arial"/>
            </a:endParaRPr>
          </a:p>
        </p:txBody>
      </p:sp>
      <p:sp>
        <p:nvSpPr>
          <p:cNvPr id="110" name="Text 10"/>
          <p:cNvSpPr/>
          <p:nvPr/>
        </p:nvSpPr>
        <p:spPr>
          <a:xfrm>
            <a:off x="475560" y="1737360"/>
            <a:ext cx="22856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A8BDD0"/>
                </a:solidFill>
                <a:effectLst/>
                <a:uFillTx/>
                <a:latin typeface="Calibri"/>
                <a:ea typeface="Calibri"/>
              </a:rPr>
              <a:t>Well-Architected Modules</a:t>
            </a:r>
            <a:endParaRPr lang="en-US" sz="1000" b="0" u="none" strike="noStrike">
              <a:solidFill>
                <a:srgbClr val="FFFFFF"/>
              </a:solidFill>
              <a:effectLst/>
              <a:uFillTx/>
              <a:latin typeface="Arial"/>
            </a:endParaRPr>
          </a:p>
        </p:txBody>
      </p:sp>
      <p:sp>
        <p:nvSpPr>
          <p:cNvPr id="111" name="Shape 11"/>
          <p:cNvSpPr/>
          <p:nvPr/>
        </p:nvSpPr>
        <p:spPr>
          <a:xfrm>
            <a:off x="475560" y="2048400"/>
            <a:ext cx="1096920" cy="27000"/>
          </a:xfrm>
          <a:prstGeom prst="rect">
            <a:avLst/>
          </a:prstGeom>
          <a:solidFill>
            <a:srgbClr val="0070F3"/>
          </a:solidFill>
          <a:ln w="12700">
            <a:solidFill>
              <a:srgbClr val="0070F3"/>
            </a:solidFill>
            <a:round/>
          </a:ln>
        </p:spPr>
        <p:style>
          <a:lnRef idx="0"/>
          <a:fillRef idx="0"/>
          <a:effectRef idx="0"/>
          <a:fontRef idx="minor"/>
        </p:style>
        <p:txBody>
          <a:bodyPr lIns="90000" tIns="-17640" rIns="90000" bIns="-17640" anchor="t">
            <a:noAutofit/>
          </a:bodyPr>
          <a:p>
            <a:endParaRPr lang="en-US" sz="1800" b="0" u="none" strike="noStrike">
              <a:solidFill>
                <a:srgbClr val="FFFFFF"/>
              </a:solidFill>
              <a:effectLst/>
              <a:uFillTx/>
              <a:latin typeface="Arial"/>
            </a:endParaRPr>
          </a:p>
        </p:txBody>
      </p:sp>
      <p:sp>
        <p:nvSpPr>
          <p:cNvPr id="112" name="Text 12"/>
          <p:cNvSpPr/>
          <p:nvPr/>
        </p:nvSpPr>
        <p:spPr>
          <a:xfrm>
            <a:off x="475560" y="2148840"/>
            <a:ext cx="2285640" cy="233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8EFF8"/>
                </a:solidFill>
                <a:effectLst/>
                <a:uFillTx/>
                <a:latin typeface="Calibri"/>
                <a:ea typeface="Calibri"/>
              </a:rPr>
              <a:t>CloudNation's library of production-grade Terraform modules — Resource Modules (open-source building blocks) and Pattern Modules (proprietary, opinionated architectures). Security, reliability, and compliance are defaults, not configurations.</a:t>
            </a:r>
            <a:endParaRPr lang="en-US" sz="1100" b="0" u="none" strike="noStrike">
              <a:solidFill>
                <a:srgbClr val="FFFFFF"/>
              </a:solidFill>
              <a:effectLst/>
              <a:uFillTx/>
              <a:latin typeface="Arial"/>
            </a:endParaRPr>
          </a:p>
        </p:txBody>
      </p:sp>
      <p:sp>
        <p:nvSpPr>
          <p:cNvPr id="113" name="Shape 13"/>
          <p:cNvSpPr/>
          <p:nvPr/>
        </p:nvSpPr>
        <p:spPr>
          <a:xfrm>
            <a:off x="3246120" y="1078920"/>
            <a:ext cx="2651400" cy="356580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4" name="Shape 14"/>
          <p:cNvSpPr/>
          <p:nvPr/>
        </p:nvSpPr>
        <p:spPr>
          <a:xfrm>
            <a:off x="3246120" y="1078920"/>
            <a:ext cx="2651400" cy="72720"/>
          </a:xfrm>
          <a:prstGeom prst="rect">
            <a:avLst/>
          </a:prstGeom>
          <a:solidFill>
            <a:srgbClr val="00C8C8"/>
          </a:solidFill>
          <a:ln w="12700">
            <a:solidFill>
              <a:srgbClr val="00C8C8"/>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15" name="Text 15"/>
          <p:cNvSpPr/>
          <p:nvPr/>
        </p:nvSpPr>
        <p:spPr>
          <a:xfrm>
            <a:off x="3447360" y="1261800"/>
            <a:ext cx="22399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0C8C8"/>
                </a:solidFill>
                <a:effectLst/>
                <a:uFillTx/>
                <a:latin typeface="Calibri"/>
                <a:ea typeface="Calibri"/>
              </a:rPr>
              <a:t>MCP Server</a:t>
            </a:r>
            <a:endParaRPr lang="en-US" sz="2800" b="0" u="none" strike="noStrike">
              <a:solidFill>
                <a:srgbClr val="FFFFFF"/>
              </a:solidFill>
              <a:effectLst/>
              <a:uFillTx/>
              <a:latin typeface="Arial"/>
            </a:endParaRPr>
          </a:p>
        </p:txBody>
      </p:sp>
      <p:sp>
        <p:nvSpPr>
          <p:cNvPr id="116" name="Text 16"/>
          <p:cNvSpPr/>
          <p:nvPr/>
        </p:nvSpPr>
        <p:spPr>
          <a:xfrm>
            <a:off x="3447360" y="1737360"/>
            <a:ext cx="22856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A8BDD0"/>
                </a:solidFill>
                <a:effectLst/>
                <a:uFillTx/>
                <a:latin typeface="Calibri"/>
                <a:ea typeface="Calibri"/>
              </a:rPr>
              <a:t>Model Context Protocol</a:t>
            </a:r>
            <a:endParaRPr lang="en-US" sz="1000" b="0" u="none" strike="noStrike">
              <a:solidFill>
                <a:srgbClr val="FFFFFF"/>
              </a:solidFill>
              <a:effectLst/>
              <a:uFillTx/>
              <a:latin typeface="Arial"/>
            </a:endParaRPr>
          </a:p>
        </p:txBody>
      </p:sp>
      <p:sp>
        <p:nvSpPr>
          <p:cNvPr id="117" name="Shape 17"/>
          <p:cNvSpPr/>
          <p:nvPr/>
        </p:nvSpPr>
        <p:spPr>
          <a:xfrm>
            <a:off x="3447360" y="2048400"/>
            <a:ext cx="1096920" cy="27000"/>
          </a:xfrm>
          <a:prstGeom prst="rect">
            <a:avLst/>
          </a:prstGeom>
          <a:solidFill>
            <a:srgbClr val="00C8C8"/>
          </a:solidFill>
          <a:ln w="12700">
            <a:solidFill>
              <a:srgbClr val="00C8C8"/>
            </a:solidFill>
            <a:round/>
          </a:ln>
        </p:spPr>
        <p:style>
          <a:lnRef idx="0"/>
          <a:fillRef idx="0"/>
          <a:effectRef idx="0"/>
          <a:fontRef idx="minor"/>
        </p:style>
        <p:txBody>
          <a:bodyPr lIns="90000" tIns="-17640" rIns="90000" bIns="-17640" anchor="t">
            <a:noAutofit/>
          </a:bodyPr>
          <a:p>
            <a:endParaRPr lang="en-US" sz="1800" b="0" u="none" strike="noStrike">
              <a:solidFill>
                <a:srgbClr val="000000"/>
              </a:solidFill>
              <a:effectLst/>
              <a:uFillTx/>
              <a:latin typeface="Arial"/>
            </a:endParaRPr>
          </a:p>
        </p:txBody>
      </p:sp>
      <p:sp>
        <p:nvSpPr>
          <p:cNvPr id="118" name="Text 18"/>
          <p:cNvSpPr/>
          <p:nvPr/>
        </p:nvSpPr>
        <p:spPr>
          <a:xfrm>
            <a:off x="3447360" y="2148840"/>
            <a:ext cx="2285640" cy="233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8EFF8"/>
                </a:solidFill>
                <a:effectLst/>
                <a:uFillTx/>
                <a:latin typeface="Calibri"/>
                <a:ea typeface="Calibri"/>
              </a:rPr>
              <a:t>A purpose-built server that exposes WAM module definitions, naming conventions, and security standards to AI models — as structured, versioned, allowlisted context. The AI reads what the server returns. Nothing more.</a:t>
            </a:r>
            <a:endParaRPr lang="en-US" sz="1100" b="0" u="none" strike="noStrike">
              <a:solidFill>
                <a:srgbClr val="FFFFFF"/>
              </a:solidFill>
              <a:effectLst/>
              <a:uFillTx/>
              <a:latin typeface="Arial"/>
            </a:endParaRPr>
          </a:p>
        </p:txBody>
      </p:sp>
      <p:sp>
        <p:nvSpPr>
          <p:cNvPr id="119" name="Shape 19"/>
          <p:cNvSpPr/>
          <p:nvPr/>
        </p:nvSpPr>
        <p:spPr>
          <a:xfrm>
            <a:off x="6172200" y="1078920"/>
            <a:ext cx="2651400" cy="356580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0" name="Shape 20"/>
          <p:cNvSpPr/>
          <p:nvPr/>
        </p:nvSpPr>
        <p:spPr>
          <a:xfrm>
            <a:off x="6172200" y="1078920"/>
            <a:ext cx="2651400" cy="72720"/>
          </a:xfrm>
          <a:prstGeom prst="rect">
            <a:avLst/>
          </a:prstGeom>
          <a:solidFill>
            <a:srgbClr val="00D68F"/>
          </a:solidFill>
          <a:ln w="12700">
            <a:solidFill>
              <a:srgbClr val="00D68F"/>
            </a:solidFill>
            <a:round/>
          </a:ln>
        </p:spPr>
        <p:style>
          <a:lnRef idx="0"/>
          <a:fillRef idx="0"/>
          <a:effectRef idx="0"/>
          <a:fontRef idx="minor"/>
        </p:style>
        <p:txBody>
          <a:bodyPr lIns="90000" tIns="28080" rIns="90000" bIns="28080" anchor="t">
            <a:noAutofit/>
          </a:bodyPr>
          <a:p>
            <a:endParaRPr lang="en-US" sz="1800" b="0" u="none" strike="noStrike">
              <a:solidFill>
                <a:srgbClr val="000000"/>
              </a:solidFill>
              <a:effectLst/>
              <a:uFillTx/>
              <a:latin typeface="Arial"/>
            </a:endParaRPr>
          </a:p>
        </p:txBody>
      </p:sp>
      <p:sp>
        <p:nvSpPr>
          <p:cNvPr id="121" name="Text 21"/>
          <p:cNvSpPr/>
          <p:nvPr/>
        </p:nvSpPr>
        <p:spPr>
          <a:xfrm>
            <a:off x="6373440" y="1261800"/>
            <a:ext cx="223992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0D68F"/>
                </a:solidFill>
                <a:effectLst/>
                <a:uFillTx/>
                <a:latin typeface="Calibri"/>
                <a:ea typeface="Calibri"/>
              </a:rPr>
              <a:t>AI Agent</a:t>
            </a:r>
            <a:endParaRPr lang="en-US" sz="2800" b="0" u="none" strike="noStrike">
              <a:solidFill>
                <a:srgbClr val="FFFFFF"/>
              </a:solidFill>
              <a:effectLst/>
              <a:uFillTx/>
              <a:latin typeface="Arial"/>
            </a:endParaRPr>
          </a:p>
        </p:txBody>
      </p:sp>
      <p:sp>
        <p:nvSpPr>
          <p:cNvPr id="122" name="Text 22"/>
          <p:cNvSpPr/>
          <p:nvPr/>
        </p:nvSpPr>
        <p:spPr>
          <a:xfrm>
            <a:off x="6373440" y="1737360"/>
            <a:ext cx="22856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i="1" u="none" strike="noStrike">
                <a:solidFill>
                  <a:srgbClr val="A8BDD0"/>
                </a:solidFill>
                <a:effectLst/>
                <a:uFillTx/>
                <a:latin typeface="Calibri"/>
                <a:ea typeface="Calibri"/>
              </a:rPr>
              <a:t>In your developer's IDE</a:t>
            </a:r>
            <a:endParaRPr lang="en-US" sz="1000" b="0" u="none" strike="noStrike">
              <a:solidFill>
                <a:srgbClr val="FFFFFF"/>
              </a:solidFill>
              <a:effectLst/>
              <a:uFillTx/>
              <a:latin typeface="Arial"/>
            </a:endParaRPr>
          </a:p>
        </p:txBody>
      </p:sp>
      <p:sp>
        <p:nvSpPr>
          <p:cNvPr id="123" name="Shape 23"/>
          <p:cNvSpPr/>
          <p:nvPr/>
        </p:nvSpPr>
        <p:spPr>
          <a:xfrm>
            <a:off x="6373440" y="2048400"/>
            <a:ext cx="1096920" cy="27000"/>
          </a:xfrm>
          <a:prstGeom prst="rect">
            <a:avLst/>
          </a:prstGeom>
          <a:solidFill>
            <a:srgbClr val="00D68F"/>
          </a:solidFill>
          <a:ln w="12700">
            <a:solidFill>
              <a:srgbClr val="00D68F"/>
            </a:solidFill>
            <a:round/>
          </a:ln>
        </p:spPr>
        <p:style>
          <a:lnRef idx="0"/>
          <a:fillRef idx="0"/>
          <a:effectRef idx="0"/>
          <a:fontRef idx="minor"/>
        </p:style>
        <p:txBody>
          <a:bodyPr lIns="90000" tIns="-17640" rIns="90000" bIns="-17640" anchor="t">
            <a:noAutofit/>
          </a:bodyPr>
          <a:p>
            <a:endParaRPr lang="en-US" sz="1800" b="0" u="none" strike="noStrike">
              <a:solidFill>
                <a:srgbClr val="000000"/>
              </a:solidFill>
              <a:effectLst/>
              <a:uFillTx/>
              <a:latin typeface="Arial"/>
            </a:endParaRPr>
          </a:p>
        </p:txBody>
      </p:sp>
      <p:sp>
        <p:nvSpPr>
          <p:cNvPr id="124" name="Text 24"/>
          <p:cNvSpPr/>
          <p:nvPr/>
        </p:nvSpPr>
        <p:spPr>
          <a:xfrm>
            <a:off x="6373440" y="2148840"/>
            <a:ext cx="2285640" cy="233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8EFF8"/>
                </a:solidFill>
                <a:effectLst/>
                <a:uFillTx/>
                <a:latin typeface="Calibri"/>
                <a:ea typeface="Calibri"/>
              </a:rPr>
              <a:t>Cursor, Windsurf, or a CLI agent connected to the MCP server. The developer describes intent in plain language. The AI generates Well-Architected Terraform, validates it against CloudNation policy, and opens a pull request.</a:t>
            </a:r>
            <a:endParaRPr lang="en-US" sz="1100" b="0" u="none" strike="noStrike">
              <a:solidFill>
                <a:srgbClr val="FFFFFF"/>
              </a:solidFill>
              <a:effectLst/>
              <a:uFillTx/>
              <a:latin typeface="Arial"/>
            </a:endParaRPr>
          </a:p>
        </p:txBody>
      </p:sp>
      <p:sp>
        <p:nvSpPr>
          <p:cNvPr id="125" name="Text 25"/>
          <p:cNvSpPr/>
          <p:nvPr/>
        </p:nvSpPr>
        <p:spPr>
          <a:xfrm>
            <a:off x="2898720" y="2377440"/>
            <a:ext cx="3286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600" b="1" u="none" strike="noStrike">
                <a:solidFill>
                  <a:srgbClr val="5A7A9A"/>
                </a:solidFill>
                <a:effectLst/>
                <a:uFillTx/>
                <a:latin typeface="Calibri"/>
                <a:ea typeface="Calibri"/>
              </a:rPr>
              <a:t>+</a:t>
            </a:r>
            <a:endParaRPr lang="en-US" sz="2600" b="0" u="none" strike="noStrike">
              <a:solidFill>
                <a:srgbClr val="FFFFFF"/>
              </a:solidFill>
              <a:effectLst/>
              <a:uFillTx/>
              <a:latin typeface="Arial"/>
            </a:endParaRPr>
          </a:p>
        </p:txBody>
      </p:sp>
      <p:sp>
        <p:nvSpPr>
          <p:cNvPr id="126" name="Text 26"/>
          <p:cNvSpPr/>
          <p:nvPr/>
        </p:nvSpPr>
        <p:spPr>
          <a:xfrm>
            <a:off x="5824800" y="2377440"/>
            <a:ext cx="328680" cy="411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600" b="1" u="none" strike="noStrike">
                <a:solidFill>
                  <a:srgbClr val="5A7A9A"/>
                </a:solidFill>
                <a:effectLst/>
                <a:uFillTx/>
                <a:latin typeface="Calibri"/>
                <a:ea typeface="Calibri"/>
              </a:rPr>
              <a:t>+</a:t>
            </a:r>
            <a:endParaRPr lang="en-US" sz="2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27"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128"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Outcome 1: Landing Zone as a Service — Delivered in Hours</a:t>
            </a:r>
            <a:endParaRPr lang="en-US" sz="2600" b="0" u="none" strike="noStrike">
              <a:solidFill>
                <a:srgbClr val="FFFFFF"/>
              </a:solidFill>
              <a:effectLst/>
              <a:uFillTx/>
              <a:latin typeface="Arial"/>
            </a:endParaRPr>
          </a:p>
        </p:txBody>
      </p:sp>
      <p:sp>
        <p:nvSpPr>
          <p:cNvPr id="129"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From developer intent to production-ready infrastructure, autonomously, without senior engineer bottlenecks</a:t>
            </a:r>
            <a:endParaRPr lang="en-US" sz="1200" b="0" u="none" strike="noStrike">
              <a:solidFill>
                <a:srgbClr val="FFFFFF"/>
              </a:solidFill>
              <a:effectLst/>
              <a:uFillTx/>
              <a:latin typeface="Arial"/>
            </a:endParaRPr>
          </a:p>
        </p:txBody>
      </p:sp>
      <p:sp>
        <p:nvSpPr>
          <p:cNvPr id="130"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1"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132"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5 / 12</a:t>
            </a:r>
            <a:endParaRPr lang="en-US" sz="800" b="0" u="none" strike="noStrike">
              <a:solidFill>
                <a:srgbClr val="FFFFFF"/>
              </a:solidFill>
              <a:effectLst/>
              <a:uFillTx/>
              <a:latin typeface="Arial"/>
            </a:endParaRPr>
          </a:p>
        </p:txBody>
      </p:sp>
      <p:sp>
        <p:nvSpPr>
          <p:cNvPr id="133"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134" name="Shape 7"/>
          <p:cNvSpPr/>
          <p:nvPr/>
        </p:nvSpPr>
        <p:spPr>
          <a:xfrm>
            <a:off x="274320" y="1024200"/>
            <a:ext cx="3931560" cy="361152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5" name="Shape 8"/>
          <p:cNvSpPr/>
          <p:nvPr/>
        </p:nvSpPr>
        <p:spPr>
          <a:xfrm>
            <a:off x="274320" y="1024200"/>
            <a:ext cx="3931560" cy="54360"/>
          </a:xfrm>
          <a:prstGeom prst="rect">
            <a:avLst/>
          </a:prstGeom>
          <a:solidFill>
            <a:srgbClr val="E05A5A"/>
          </a:solidFill>
          <a:ln w="12700">
            <a:solidFill>
              <a:srgbClr val="E05A5A"/>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136" name="Text 9"/>
          <p:cNvSpPr/>
          <p:nvPr/>
        </p:nvSpPr>
        <p:spPr>
          <a:xfrm>
            <a:off x="457200" y="1115640"/>
            <a:ext cx="347436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E05A5A"/>
                </a:solidFill>
                <a:effectLst/>
                <a:uFillTx/>
                <a:latin typeface="Calibri"/>
                <a:ea typeface="Calibri"/>
              </a:rPr>
              <a:t>BEFORE</a:t>
            </a:r>
            <a:endParaRPr lang="en-US" sz="1300" b="0" u="none" strike="noStrike">
              <a:solidFill>
                <a:srgbClr val="FFFFFF"/>
              </a:solidFill>
              <a:effectLst/>
              <a:uFillTx/>
              <a:latin typeface="Arial"/>
            </a:endParaRPr>
          </a:p>
        </p:txBody>
      </p:sp>
      <p:sp>
        <p:nvSpPr>
          <p:cNvPr id="137" name="Text 10"/>
          <p:cNvSpPr/>
          <p:nvPr/>
        </p:nvSpPr>
        <p:spPr>
          <a:xfrm>
            <a:off x="457200" y="1554480"/>
            <a:ext cx="3565800" cy="2925720"/>
          </a:xfrm>
          <a:prstGeom prst="rect">
            <a:avLst/>
          </a:prstGeom>
          <a:noFill/>
          <a:ln w="0">
            <a:noFill/>
          </a:ln>
        </p:spPr>
        <p:style>
          <a:lnRef idx="0"/>
          <a:fillRef idx="0"/>
          <a:effectRef idx="0"/>
          <a:fontRef idx="minor"/>
        </p:style>
        <p:txBody>
          <a:bodyPr lIns="90000" tIns="45000" rIns="90000" bIns="45000" anchor="ctr">
            <a:noAutofit/>
          </a:bodyPr>
          <a:p>
            <a:pPr marL="343080" indent="-343080" defTabSz="914400">
              <a:lnSpc>
                <a:spcPct val="100000"/>
              </a:lnSpc>
              <a:spcAft>
                <a:spcPts val="400"/>
              </a:spcAft>
              <a:buClr>
                <a:srgbClr val="A8BDD0"/>
              </a:buClr>
              <a:buFont typeface="Symbol" charset="2"/>
              <a:buChar char=""/>
            </a:pPr>
            <a:r>
              <a:rPr lang="en-US" sz="1050" b="0" u="none" strike="noStrike">
                <a:solidFill>
                  <a:srgbClr val="A8BDD0"/>
                </a:solidFill>
                <a:effectLst/>
                <a:uFillTx/>
                <a:latin typeface="Calibri"/>
                <a:ea typeface="Calibri"/>
              </a:rPr>
              <a:t>Developer submits ticket — waits 1–3 days for triage</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A8BDD0"/>
              </a:buClr>
              <a:buFont typeface="Symbol" charset="2"/>
              <a:buChar char=""/>
            </a:pPr>
            <a:r>
              <a:rPr lang="en-US" sz="1050" b="0" u="none" strike="noStrike">
                <a:solidFill>
                  <a:srgbClr val="A8BDD0"/>
                </a:solidFill>
                <a:effectLst/>
                <a:uFillTx/>
                <a:latin typeface="Calibri"/>
                <a:ea typeface="Calibri"/>
              </a:rPr>
              <a:t>Senior engineer interprets intent, writes Terraform manually</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A8BDD0"/>
              </a:buClr>
              <a:buFont typeface="Symbol" charset="2"/>
              <a:buChar char=""/>
            </a:pPr>
            <a:r>
              <a:rPr lang="en-US" sz="1050" b="0" u="none" strike="noStrike">
                <a:solidFill>
                  <a:srgbClr val="A8BDD0"/>
                </a:solidFill>
                <a:effectLst/>
                <a:uFillTx/>
                <a:latin typeface="Calibri"/>
                <a:ea typeface="Calibri"/>
              </a:rPr>
              <a:t>Module sourcing from memory or copy-paste — naming errors common</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A8BDD0"/>
              </a:buClr>
              <a:buFont typeface="Symbol" charset="2"/>
              <a:buChar char=""/>
            </a:pPr>
            <a:r>
              <a:rPr lang="en-US" sz="1050" b="0" u="none" strike="noStrike">
                <a:solidFill>
                  <a:srgbClr val="A8BDD0"/>
                </a:solidFill>
                <a:effectLst/>
                <a:uFillTx/>
                <a:latin typeface="Calibri"/>
                <a:ea typeface="Calibri"/>
              </a:rPr>
              <a:t>Manual PR review by platform team for policy compliance</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A8BDD0"/>
              </a:buClr>
              <a:buFont typeface="Symbol" charset="2"/>
              <a:buChar char=""/>
            </a:pPr>
            <a:r>
              <a:rPr lang="en-US" sz="1050" b="0" u="none" strike="noStrike">
                <a:solidFill>
                  <a:srgbClr val="A8BDD0"/>
                </a:solidFill>
                <a:effectLst/>
                <a:uFillTx/>
                <a:latin typeface="Calibri"/>
                <a:ea typeface="Calibri"/>
              </a:rPr>
              <a:t>Back-and-forth corrections before pipeline can run</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A8BDD0"/>
              </a:buClr>
              <a:buFont typeface="Symbol" charset="2"/>
              <a:buChar char=""/>
            </a:pPr>
            <a:r>
              <a:rPr lang="en-US" sz="1050" b="0" u="none" strike="noStrike">
                <a:solidFill>
                  <a:srgbClr val="A8BDD0"/>
                </a:solidFill>
                <a:effectLst/>
                <a:uFillTx/>
                <a:latin typeface="Calibri"/>
                <a:ea typeface="Calibri"/>
              </a:rPr>
              <a:t>3–10 business days end-to-end</a:t>
            </a:r>
            <a:endParaRPr lang="en-US" sz="1050" b="0" u="none" strike="noStrike">
              <a:solidFill>
                <a:srgbClr val="FFFFFF"/>
              </a:solidFill>
              <a:effectLst/>
              <a:uFillTx/>
              <a:latin typeface="Arial"/>
            </a:endParaRPr>
          </a:p>
        </p:txBody>
      </p:sp>
      <p:sp>
        <p:nvSpPr>
          <p:cNvPr id="138" name="Text 11"/>
          <p:cNvSpPr/>
          <p:nvPr/>
        </p:nvSpPr>
        <p:spPr>
          <a:xfrm>
            <a:off x="4297680" y="2468880"/>
            <a:ext cx="45684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0" u="none" strike="noStrike">
                <a:solidFill>
                  <a:srgbClr val="0070F3"/>
                </a:solidFill>
                <a:effectLst/>
                <a:uFillTx/>
                <a:latin typeface="Calibri"/>
                <a:ea typeface="Calibri"/>
              </a:rPr>
              <a:t>→</a:t>
            </a:r>
            <a:endParaRPr lang="en-US" sz="3000" b="0" u="none" strike="noStrike">
              <a:solidFill>
                <a:srgbClr val="FFFFFF"/>
              </a:solidFill>
              <a:effectLst/>
              <a:uFillTx/>
              <a:latin typeface="Arial"/>
            </a:endParaRPr>
          </a:p>
        </p:txBody>
      </p:sp>
      <p:sp>
        <p:nvSpPr>
          <p:cNvPr id="139" name="Shape 12"/>
          <p:cNvSpPr/>
          <p:nvPr/>
        </p:nvSpPr>
        <p:spPr>
          <a:xfrm>
            <a:off x="4892040" y="1024200"/>
            <a:ext cx="3931560" cy="361152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0" name="Shape 13"/>
          <p:cNvSpPr/>
          <p:nvPr/>
        </p:nvSpPr>
        <p:spPr>
          <a:xfrm>
            <a:off x="4892040" y="1024200"/>
            <a:ext cx="3931560" cy="54360"/>
          </a:xfrm>
          <a:prstGeom prst="rect">
            <a:avLst/>
          </a:prstGeom>
          <a:solidFill>
            <a:srgbClr val="00D68F"/>
          </a:solidFill>
          <a:ln w="12700">
            <a:solidFill>
              <a:srgbClr val="00D68F"/>
            </a:solidFill>
            <a:round/>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141" name="Text 14"/>
          <p:cNvSpPr/>
          <p:nvPr/>
        </p:nvSpPr>
        <p:spPr>
          <a:xfrm>
            <a:off x="5074920" y="1115640"/>
            <a:ext cx="347436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pc="201" strike="noStrike">
                <a:solidFill>
                  <a:srgbClr val="00D68F"/>
                </a:solidFill>
                <a:effectLst/>
                <a:uFillTx/>
                <a:latin typeface="Calibri"/>
                <a:ea typeface="Calibri"/>
              </a:rPr>
              <a:t>AFTER</a:t>
            </a:r>
            <a:endParaRPr lang="en-US" sz="1300" b="0" u="none" strike="noStrike">
              <a:solidFill>
                <a:srgbClr val="FFFFFF"/>
              </a:solidFill>
              <a:effectLst/>
              <a:uFillTx/>
              <a:latin typeface="Arial"/>
            </a:endParaRPr>
          </a:p>
        </p:txBody>
      </p:sp>
      <p:sp>
        <p:nvSpPr>
          <p:cNvPr id="142" name="Text 15"/>
          <p:cNvSpPr/>
          <p:nvPr/>
        </p:nvSpPr>
        <p:spPr>
          <a:xfrm>
            <a:off x="5074920" y="1554480"/>
            <a:ext cx="3565800" cy="2925720"/>
          </a:xfrm>
          <a:prstGeom prst="rect">
            <a:avLst/>
          </a:prstGeom>
          <a:noFill/>
          <a:ln w="0">
            <a:noFill/>
          </a:ln>
        </p:spPr>
        <p:style>
          <a:lnRef idx="0"/>
          <a:fillRef idx="0"/>
          <a:effectRef idx="0"/>
          <a:fontRef idx="minor"/>
        </p:style>
        <p:txBody>
          <a:bodyPr lIns="90000" tIns="45000" rIns="90000" bIns="45000" anchor="ctr">
            <a:noAutofit/>
          </a:bodyPr>
          <a:p>
            <a:pPr marL="343080" indent="-343080" defTabSz="914400">
              <a:lnSpc>
                <a:spcPct val="100000"/>
              </a:lnSpc>
              <a:spcAft>
                <a:spcPts val="400"/>
              </a:spcAft>
              <a:buClr>
                <a:srgbClr val="E8EFF8"/>
              </a:buClr>
              <a:buFont typeface="Symbol" charset="2"/>
              <a:buChar char=""/>
            </a:pPr>
            <a:r>
              <a:rPr lang="en-US" sz="1050" b="0" u="none" strike="noStrike">
                <a:solidFill>
                  <a:srgbClr val="E8EFF8"/>
                </a:solidFill>
                <a:effectLst/>
                <a:uFillTx/>
                <a:latin typeface="Calibri"/>
                <a:ea typeface="Calibri"/>
              </a:rPr>
              <a:t>Developer types intent in plain language in their IDE</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E8EFF8"/>
              </a:buClr>
              <a:buFont typeface="Symbol" charset="2"/>
              <a:buChar char=""/>
            </a:pPr>
            <a:r>
              <a:rPr lang="en-US" sz="1050" b="0" u="none" strike="noStrike">
                <a:solidFill>
                  <a:srgbClr val="E8EFF8"/>
                </a:solidFill>
                <a:effectLst/>
                <a:uFillTx/>
                <a:latin typeface="Calibri"/>
                <a:ea typeface="Calibri"/>
              </a:rPr>
              <a:t>MCP server retrieves correct Pattern Module + naming rules</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E8EFF8"/>
              </a:buClr>
              <a:buFont typeface="Symbol" charset="2"/>
              <a:buChar char=""/>
            </a:pPr>
            <a:r>
              <a:rPr lang="en-US" sz="1050" b="0" u="none" strike="noStrike">
                <a:solidFill>
                  <a:srgbClr val="E8EFF8"/>
                </a:solidFill>
                <a:effectLst/>
                <a:uFillTx/>
                <a:latin typeface="Calibri"/>
                <a:ea typeface="Calibri"/>
              </a:rPr>
              <a:t>AI generates validated Terraform in seconds</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E8EFF8"/>
              </a:buClr>
              <a:buFont typeface="Symbol" charset="2"/>
              <a:buChar char=""/>
            </a:pPr>
            <a:r>
              <a:rPr lang="en-US" sz="1050" b="0" u="none" strike="noStrike">
                <a:solidFill>
                  <a:srgbClr val="E8EFF8"/>
                </a:solidFill>
                <a:effectLst/>
                <a:uFillTx/>
                <a:latin typeface="Calibri"/>
                <a:ea typeface="Calibri"/>
              </a:rPr>
              <a:t>Automated pre-PR policy check via OPA — no manual review for standard patterns</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E8EFF8"/>
              </a:buClr>
              <a:buFont typeface="Symbol" charset="2"/>
              <a:buChar char=""/>
            </a:pPr>
            <a:r>
              <a:rPr lang="en-US" sz="1050" b="0" u="none" strike="noStrike">
                <a:solidFill>
                  <a:srgbClr val="E8EFF8"/>
                </a:solidFill>
                <a:effectLst/>
                <a:uFillTx/>
                <a:latin typeface="Calibri"/>
                <a:ea typeface="Calibri"/>
              </a:rPr>
              <a:t>PR opened automatically; CI/CD pipeline runs full test suite</a:t>
            </a:r>
            <a:endParaRPr lang="en-US" sz="1050" b="0" u="none" strike="noStrike">
              <a:solidFill>
                <a:srgbClr val="FFFFFF"/>
              </a:solidFill>
              <a:effectLst/>
              <a:uFillTx/>
              <a:latin typeface="Arial"/>
            </a:endParaRPr>
          </a:p>
          <a:p>
            <a:pPr marL="343080" indent="-343080" defTabSz="914400">
              <a:lnSpc>
                <a:spcPct val="100000"/>
              </a:lnSpc>
              <a:spcAft>
                <a:spcPts val="400"/>
              </a:spcAft>
              <a:buClr>
                <a:srgbClr val="E8EFF8"/>
              </a:buClr>
              <a:buFont typeface="Symbol" charset="2"/>
              <a:buChar char=""/>
            </a:pPr>
            <a:r>
              <a:rPr lang="en-US" sz="1050" b="0" u="none" strike="noStrike">
                <a:solidFill>
                  <a:srgbClr val="E8EFF8"/>
                </a:solidFill>
                <a:effectLst/>
                <a:uFillTx/>
                <a:latin typeface="Calibri"/>
                <a:ea typeface="Calibri"/>
              </a:rPr>
              <a:t>Same-day deployment for approved patterns</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43"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144"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Outcome 2: Structural Elimination of Technical Debt</a:t>
            </a:r>
            <a:endParaRPr lang="en-US" sz="2600" b="0" u="none" strike="noStrike">
              <a:solidFill>
                <a:srgbClr val="FFFFFF"/>
              </a:solidFill>
              <a:effectLst/>
              <a:uFillTx/>
              <a:latin typeface="Arial"/>
            </a:endParaRPr>
          </a:p>
        </p:txBody>
      </p:sp>
      <p:sp>
        <p:nvSpPr>
          <p:cNvPr id="145"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Compliance is enforced in code, not in reviews. Drift becomes structurally impossible.</a:t>
            </a:r>
            <a:endParaRPr lang="en-US" sz="1200" b="0" u="none" strike="noStrike">
              <a:solidFill>
                <a:srgbClr val="FFFFFF"/>
              </a:solidFill>
              <a:effectLst/>
              <a:uFillTx/>
              <a:latin typeface="Arial"/>
            </a:endParaRPr>
          </a:p>
        </p:txBody>
      </p:sp>
      <p:sp>
        <p:nvSpPr>
          <p:cNvPr id="146"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7"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148"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6 / 12</a:t>
            </a:r>
            <a:endParaRPr lang="en-US" sz="800" b="0" u="none" strike="noStrike">
              <a:solidFill>
                <a:srgbClr val="FFFFFF"/>
              </a:solidFill>
              <a:effectLst/>
              <a:uFillTx/>
              <a:latin typeface="Arial"/>
            </a:endParaRPr>
          </a:p>
        </p:txBody>
      </p:sp>
      <p:sp>
        <p:nvSpPr>
          <p:cNvPr id="149"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150" name="Shape 7"/>
          <p:cNvSpPr/>
          <p:nvPr/>
        </p:nvSpPr>
        <p:spPr>
          <a:xfrm>
            <a:off x="274320" y="1078920"/>
            <a:ext cx="4160160" cy="171864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1" name="Shape 8"/>
          <p:cNvSpPr/>
          <p:nvPr/>
        </p:nvSpPr>
        <p:spPr>
          <a:xfrm>
            <a:off x="274320" y="1078920"/>
            <a:ext cx="45360" cy="1718640"/>
          </a:xfrm>
          <a:prstGeom prst="rect">
            <a:avLst/>
          </a:prstGeom>
          <a:solidFill>
            <a:srgbClr val="0070F3"/>
          </a:solidFill>
          <a:ln w="12700">
            <a:solidFill>
              <a:srgbClr val="0070F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2" name="Text 9"/>
          <p:cNvSpPr/>
          <p:nvPr/>
        </p:nvSpPr>
        <p:spPr>
          <a:xfrm>
            <a:off x="475560" y="1188720"/>
            <a:ext cx="37486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70F3"/>
                </a:solidFill>
                <a:effectLst/>
                <a:uFillTx/>
                <a:latin typeface="Calibri"/>
                <a:ea typeface="Calibri"/>
              </a:rPr>
              <a:t>WAF Pillars Encoded as Defaults</a:t>
            </a:r>
            <a:endParaRPr lang="en-US" sz="1300" b="0" u="none" strike="noStrike">
              <a:solidFill>
                <a:srgbClr val="FFFFFF"/>
              </a:solidFill>
              <a:effectLst/>
              <a:uFillTx/>
              <a:latin typeface="Arial"/>
            </a:endParaRPr>
          </a:p>
        </p:txBody>
      </p:sp>
      <p:sp>
        <p:nvSpPr>
          <p:cNvPr id="153" name="Text 10"/>
          <p:cNvSpPr/>
          <p:nvPr/>
        </p:nvSpPr>
        <p:spPr>
          <a:xfrm>
            <a:off x="475560" y="1609200"/>
            <a:ext cx="3748680" cy="107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E8EFF8"/>
                </a:solidFill>
                <a:effectLst/>
                <a:uFillTx/>
                <a:latin typeface="Calibri"/>
                <a:ea typeface="Calibri"/>
              </a:rPr>
              <a:t>Every WAM module ships with Well-Architected defaults: RBAC on, network deny-by-default, TLS 1.2 minimum, geo-redundancy. Developers inherit compliance — they don't configure it.</a:t>
            </a:r>
            <a:endParaRPr lang="en-US" sz="1050" b="0" u="none" strike="noStrike">
              <a:solidFill>
                <a:srgbClr val="FFFFFF"/>
              </a:solidFill>
              <a:effectLst/>
              <a:uFillTx/>
              <a:latin typeface="Arial"/>
            </a:endParaRPr>
          </a:p>
        </p:txBody>
      </p:sp>
      <p:sp>
        <p:nvSpPr>
          <p:cNvPr id="154" name="Shape 11"/>
          <p:cNvSpPr/>
          <p:nvPr/>
        </p:nvSpPr>
        <p:spPr>
          <a:xfrm>
            <a:off x="4754880" y="1078920"/>
            <a:ext cx="4160160" cy="171864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5" name="Shape 12"/>
          <p:cNvSpPr/>
          <p:nvPr/>
        </p:nvSpPr>
        <p:spPr>
          <a:xfrm>
            <a:off x="4754880" y="1078920"/>
            <a:ext cx="45360" cy="1718640"/>
          </a:xfrm>
          <a:prstGeom prst="rect">
            <a:avLst/>
          </a:prstGeom>
          <a:solidFill>
            <a:srgbClr val="00C8C8"/>
          </a:solidFill>
          <a:ln w="12700">
            <a:solidFill>
              <a:srgbClr val="00C8C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 name="Text 13"/>
          <p:cNvSpPr/>
          <p:nvPr/>
        </p:nvSpPr>
        <p:spPr>
          <a:xfrm>
            <a:off x="4956120" y="1188720"/>
            <a:ext cx="37486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C8C8"/>
                </a:solidFill>
                <a:effectLst/>
                <a:uFillTx/>
                <a:latin typeface="Calibri"/>
                <a:ea typeface="Calibri"/>
              </a:rPr>
              <a:t>Multi-Layer Policy Enforcement</a:t>
            </a:r>
            <a:endParaRPr lang="en-US" sz="1300" b="0" u="none" strike="noStrike">
              <a:solidFill>
                <a:srgbClr val="FFFFFF"/>
              </a:solidFill>
              <a:effectLst/>
              <a:uFillTx/>
              <a:latin typeface="Arial"/>
            </a:endParaRPr>
          </a:p>
        </p:txBody>
      </p:sp>
      <p:sp>
        <p:nvSpPr>
          <p:cNvPr id="157" name="Text 14"/>
          <p:cNvSpPr/>
          <p:nvPr/>
        </p:nvSpPr>
        <p:spPr>
          <a:xfrm>
            <a:off x="4956120" y="1609200"/>
            <a:ext cx="3748680" cy="107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E8EFF8"/>
                </a:solidFill>
                <a:effectLst/>
                <a:uFillTx/>
                <a:latin typeface="Calibri"/>
                <a:ea typeface="Calibri"/>
              </a:rPr>
              <a:t>Terraform type validation → tflint naming rules → OPA policy-as-code → Terratest CI pipeline. Four independent gates catch different classes of violation before any code reaches production.</a:t>
            </a:r>
            <a:endParaRPr lang="en-US" sz="1050" b="0" u="none" strike="noStrike">
              <a:solidFill>
                <a:srgbClr val="FFFFFF"/>
              </a:solidFill>
              <a:effectLst/>
              <a:uFillTx/>
              <a:latin typeface="Arial"/>
            </a:endParaRPr>
          </a:p>
        </p:txBody>
      </p:sp>
      <p:sp>
        <p:nvSpPr>
          <p:cNvPr id="158" name="Shape 15"/>
          <p:cNvSpPr/>
          <p:nvPr/>
        </p:nvSpPr>
        <p:spPr>
          <a:xfrm>
            <a:off x="274320" y="2926080"/>
            <a:ext cx="4160160" cy="171864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9" name="Shape 16"/>
          <p:cNvSpPr/>
          <p:nvPr/>
        </p:nvSpPr>
        <p:spPr>
          <a:xfrm>
            <a:off x="274320" y="2926080"/>
            <a:ext cx="45360" cy="1718640"/>
          </a:xfrm>
          <a:prstGeom prst="rect">
            <a:avLst/>
          </a:prstGeom>
          <a:solidFill>
            <a:srgbClr val="00D68F"/>
          </a:solidFill>
          <a:ln w="12700">
            <a:solidFill>
              <a:srgbClr val="00D68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0" name="Text 17"/>
          <p:cNvSpPr/>
          <p:nvPr/>
        </p:nvSpPr>
        <p:spPr>
          <a:xfrm>
            <a:off x="475560" y="3035880"/>
            <a:ext cx="37486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D68F"/>
                </a:solidFill>
                <a:effectLst/>
                <a:uFillTx/>
                <a:latin typeface="Calibri"/>
                <a:ea typeface="Calibri"/>
              </a:rPr>
              <a:t>Module Allowlisting via MCP</a:t>
            </a:r>
            <a:endParaRPr lang="en-US" sz="1300" b="0" u="none" strike="noStrike">
              <a:solidFill>
                <a:srgbClr val="FFFFFF"/>
              </a:solidFill>
              <a:effectLst/>
              <a:uFillTx/>
              <a:latin typeface="Arial"/>
            </a:endParaRPr>
          </a:p>
        </p:txBody>
      </p:sp>
      <p:sp>
        <p:nvSpPr>
          <p:cNvPr id="161" name="Text 18"/>
          <p:cNvSpPr/>
          <p:nvPr/>
        </p:nvSpPr>
        <p:spPr>
          <a:xfrm>
            <a:off x="475560" y="3456360"/>
            <a:ext cx="3748680" cy="107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E8EFF8"/>
                </a:solidFill>
                <a:effectLst/>
                <a:uFillTx/>
                <a:latin typeface="Calibri"/>
                <a:ea typeface="Calibri"/>
              </a:rPr>
              <a:t>The AI can only reference modules the MCP server has explicitly returned. Hallucinated module names, outdated versions, or unapproved sources trigger immediate validation failure.</a:t>
            </a:r>
            <a:endParaRPr lang="en-US" sz="1050" b="0" u="none" strike="noStrike">
              <a:solidFill>
                <a:srgbClr val="FFFFFF"/>
              </a:solidFill>
              <a:effectLst/>
              <a:uFillTx/>
              <a:latin typeface="Arial"/>
            </a:endParaRPr>
          </a:p>
        </p:txBody>
      </p:sp>
      <p:sp>
        <p:nvSpPr>
          <p:cNvPr id="162" name="Shape 19"/>
          <p:cNvSpPr/>
          <p:nvPr/>
        </p:nvSpPr>
        <p:spPr>
          <a:xfrm>
            <a:off x="4754880" y="2926080"/>
            <a:ext cx="4160160" cy="171864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3" name="Shape 20"/>
          <p:cNvSpPr/>
          <p:nvPr/>
        </p:nvSpPr>
        <p:spPr>
          <a:xfrm>
            <a:off x="4754880" y="2926080"/>
            <a:ext cx="45360" cy="1718640"/>
          </a:xfrm>
          <a:prstGeom prst="rect">
            <a:avLst/>
          </a:prstGeom>
          <a:solidFill>
            <a:srgbClr val="FFB830"/>
          </a:solidFill>
          <a:ln w="12700">
            <a:solidFill>
              <a:srgbClr val="FFB83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4" name="Text 21"/>
          <p:cNvSpPr/>
          <p:nvPr/>
        </p:nvSpPr>
        <p:spPr>
          <a:xfrm>
            <a:off x="4956120" y="3035880"/>
            <a:ext cx="374868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B830"/>
                </a:solidFill>
                <a:effectLst/>
                <a:uFillTx/>
                <a:latin typeface="Calibri"/>
                <a:ea typeface="Calibri"/>
              </a:rPr>
              <a:t>Full Audit Trail</a:t>
            </a:r>
            <a:endParaRPr lang="en-US" sz="1300" b="0" u="none" strike="noStrike">
              <a:solidFill>
                <a:srgbClr val="FFFFFF"/>
              </a:solidFill>
              <a:effectLst/>
              <a:uFillTx/>
              <a:latin typeface="Arial"/>
            </a:endParaRPr>
          </a:p>
        </p:txBody>
      </p:sp>
      <p:sp>
        <p:nvSpPr>
          <p:cNvPr id="165" name="Text 22"/>
          <p:cNvSpPr/>
          <p:nvPr/>
        </p:nvSpPr>
        <p:spPr>
          <a:xfrm>
            <a:off x="4956120" y="3456360"/>
            <a:ext cx="3748680" cy="1078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E8EFF8"/>
                </a:solidFill>
                <a:effectLst/>
                <a:uFillTx/>
                <a:latin typeface="Calibri"/>
                <a:ea typeface="Calibri"/>
              </a:rPr>
              <a:t>Every MCP session, every tool invocation, every AI-generated change is logged with a correlation ID linking the Git commit to the agent session. Immutable. Tamper-evident. Audit-ready.</a:t>
            </a:r>
            <a:endParaRPr lang="en-US" sz="1050" b="0" u="none" strike="noStrike">
              <a:solidFill>
                <a:srgbClr val="FFFFFF"/>
              </a:solidFill>
              <a:effectLst/>
              <a:uFillTx/>
              <a:latin typeface="Arial"/>
            </a:endParaRPr>
          </a:p>
        </p:txBody>
      </p:sp>
      <p:sp>
        <p:nvSpPr>
          <p:cNvPr id="166" name="Text 23"/>
          <p:cNvSpPr/>
          <p:nvPr/>
        </p:nvSpPr>
        <p:spPr>
          <a:xfrm>
            <a:off x="4279320" y="2240280"/>
            <a:ext cx="5025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0" u="none" strike="noStrike">
                <a:solidFill>
                  <a:srgbClr val="0070F3"/>
                </a:solidFill>
                <a:effectLst/>
                <a:uFillTx/>
                <a:latin typeface="Segoe UI Emoji"/>
                <a:ea typeface="Segoe UI Emoji"/>
              </a:rPr>
              <a:t>⚡</a:t>
            </a:r>
            <a:endParaRPr lang="en-US" sz="2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67"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168"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Outcome 3: Engineering Teams That Learn As They Build</a:t>
            </a:r>
            <a:endParaRPr lang="en-US" sz="2600" b="0" u="none" strike="noStrike">
              <a:solidFill>
                <a:srgbClr val="FFFFFF"/>
              </a:solidFill>
              <a:effectLst/>
              <a:uFillTx/>
              <a:latin typeface="Arial"/>
            </a:endParaRPr>
          </a:p>
        </p:txBody>
      </p:sp>
      <p:sp>
        <p:nvSpPr>
          <p:cNvPr id="169"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The AI doesn't just generate code — it teaches the standard, every time it generates</a:t>
            </a:r>
            <a:endParaRPr lang="en-US" sz="1200" b="0" u="none" strike="noStrike">
              <a:solidFill>
                <a:srgbClr val="FFFFFF"/>
              </a:solidFill>
              <a:effectLst/>
              <a:uFillTx/>
              <a:latin typeface="Arial"/>
            </a:endParaRPr>
          </a:p>
        </p:txBody>
      </p:sp>
      <p:sp>
        <p:nvSpPr>
          <p:cNvPr id="170"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1"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172"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7 / 12</a:t>
            </a:r>
            <a:endParaRPr lang="en-US" sz="800" b="0" u="none" strike="noStrike">
              <a:solidFill>
                <a:srgbClr val="FFFFFF"/>
              </a:solidFill>
              <a:effectLst/>
              <a:uFillTx/>
              <a:latin typeface="Arial"/>
            </a:endParaRPr>
          </a:p>
        </p:txBody>
      </p:sp>
      <p:sp>
        <p:nvSpPr>
          <p:cNvPr id="173"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174" name="Shape 7"/>
          <p:cNvSpPr/>
          <p:nvPr/>
        </p:nvSpPr>
        <p:spPr>
          <a:xfrm>
            <a:off x="274320" y="1078920"/>
            <a:ext cx="4114440" cy="365724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5" name="Shape 8"/>
          <p:cNvSpPr/>
          <p:nvPr/>
        </p:nvSpPr>
        <p:spPr>
          <a:xfrm>
            <a:off x="274320" y="1078920"/>
            <a:ext cx="4114440" cy="54360"/>
          </a:xfrm>
          <a:prstGeom prst="rect">
            <a:avLst/>
          </a:prstGeom>
          <a:solidFill>
            <a:srgbClr val="0070F3"/>
          </a:solidFill>
          <a:ln w="12700">
            <a:solidFill>
              <a:srgbClr val="0070F3"/>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176" name="Text 9"/>
          <p:cNvSpPr/>
          <p:nvPr/>
        </p:nvSpPr>
        <p:spPr>
          <a:xfrm>
            <a:off x="457200" y="1170360"/>
            <a:ext cx="36572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0070F3"/>
                </a:solidFill>
                <a:effectLst/>
                <a:uFillTx/>
                <a:latin typeface="Calibri"/>
                <a:ea typeface="Calibri"/>
              </a:rPr>
              <a:t>THE LEARNING LOOP</a:t>
            </a:r>
            <a:endParaRPr lang="en-US" sz="1100" b="0" u="none" strike="noStrike">
              <a:solidFill>
                <a:srgbClr val="FFFFFF"/>
              </a:solidFill>
              <a:effectLst/>
              <a:uFillTx/>
              <a:latin typeface="Arial"/>
            </a:endParaRPr>
          </a:p>
        </p:txBody>
      </p:sp>
      <p:sp>
        <p:nvSpPr>
          <p:cNvPr id="177" name="Shape 10"/>
          <p:cNvSpPr/>
          <p:nvPr/>
        </p:nvSpPr>
        <p:spPr>
          <a:xfrm>
            <a:off x="457200" y="1609200"/>
            <a:ext cx="347040" cy="347040"/>
          </a:xfrm>
          <a:prstGeom prst="ellipse">
            <a:avLst/>
          </a:prstGeom>
          <a:solidFill>
            <a:srgbClr val="0070F3"/>
          </a:solidFill>
          <a:ln w="12700">
            <a:solidFill>
              <a:srgbClr val="0070F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8" name="Text 11"/>
          <p:cNvSpPr/>
          <p:nvPr/>
        </p:nvSpPr>
        <p:spPr>
          <a:xfrm>
            <a:off x="457200" y="1618560"/>
            <a:ext cx="3470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1</a:t>
            </a:r>
            <a:endParaRPr lang="en-US" sz="1100" b="0" u="none" strike="noStrike">
              <a:solidFill>
                <a:srgbClr val="FFFFFF"/>
              </a:solidFill>
              <a:effectLst/>
              <a:uFillTx/>
              <a:latin typeface="Arial"/>
            </a:endParaRPr>
          </a:p>
        </p:txBody>
      </p:sp>
      <p:sp>
        <p:nvSpPr>
          <p:cNvPr id="179" name="Text 12"/>
          <p:cNvSpPr/>
          <p:nvPr/>
        </p:nvSpPr>
        <p:spPr>
          <a:xfrm>
            <a:off x="960120" y="1609200"/>
            <a:ext cx="324576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8EFF8"/>
                </a:solidFill>
                <a:effectLst/>
                <a:uFillTx/>
                <a:latin typeface="Calibri"/>
                <a:ea typeface="Calibri"/>
              </a:rPr>
              <a:t>Developer describes intent</a:t>
            </a:r>
            <a:endParaRPr lang="en-US" sz="1100" b="0" u="none" strike="noStrike">
              <a:solidFill>
                <a:srgbClr val="FFFFFF"/>
              </a:solidFill>
              <a:effectLst/>
              <a:uFillTx/>
              <a:latin typeface="Arial"/>
            </a:endParaRPr>
          </a:p>
        </p:txBody>
      </p:sp>
      <p:sp>
        <p:nvSpPr>
          <p:cNvPr id="180" name="Shape 13"/>
          <p:cNvSpPr/>
          <p:nvPr/>
        </p:nvSpPr>
        <p:spPr>
          <a:xfrm>
            <a:off x="612720" y="1974960"/>
            <a:ext cx="27000" cy="18252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1" name="Shape 14"/>
          <p:cNvSpPr/>
          <p:nvPr/>
        </p:nvSpPr>
        <p:spPr>
          <a:xfrm>
            <a:off x="457200" y="2121480"/>
            <a:ext cx="347040" cy="347040"/>
          </a:xfrm>
          <a:prstGeom prst="ellipse">
            <a:avLst/>
          </a:prstGeom>
          <a:solidFill>
            <a:srgbClr val="0070F3"/>
          </a:solidFill>
          <a:ln w="12700">
            <a:solidFill>
              <a:srgbClr val="0070F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2" name="Text 15"/>
          <p:cNvSpPr/>
          <p:nvPr/>
        </p:nvSpPr>
        <p:spPr>
          <a:xfrm>
            <a:off x="457200" y="2130480"/>
            <a:ext cx="3470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2</a:t>
            </a:r>
            <a:endParaRPr lang="en-US" sz="1100" b="0" u="none" strike="noStrike">
              <a:solidFill>
                <a:srgbClr val="FFFFFF"/>
              </a:solidFill>
              <a:effectLst/>
              <a:uFillTx/>
              <a:latin typeface="Arial"/>
            </a:endParaRPr>
          </a:p>
        </p:txBody>
      </p:sp>
      <p:sp>
        <p:nvSpPr>
          <p:cNvPr id="183" name="Text 16"/>
          <p:cNvSpPr/>
          <p:nvPr/>
        </p:nvSpPr>
        <p:spPr>
          <a:xfrm>
            <a:off x="960120" y="2121480"/>
            <a:ext cx="324576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8EFF8"/>
                </a:solidFill>
                <a:effectLst/>
                <a:uFillTx/>
                <a:latin typeface="Calibri"/>
                <a:ea typeface="Calibri"/>
              </a:rPr>
              <a:t>AI retrieves &amp; applies WAM standards</a:t>
            </a:r>
            <a:endParaRPr lang="en-US" sz="1100" b="0" u="none" strike="noStrike">
              <a:solidFill>
                <a:srgbClr val="FFFFFF"/>
              </a:solidFill>
              <a:effectLst/>
              <a:uFillTx/>
              <a:latin typeface="Arial"/>
            </a:endParaRPr>
          </a:p>
        </p:txBody>
      </p:sp>
      <p:sp>
        <p:nvSpPr>
          <p:cNvPr id="184" name="Shape 17"/>
          <p:cNvSpPr/>
          <p:nvPr/>
        </p:nvSpPr>
        <p:spPr>
          <a:xfrm>
            <a:off x="612720" y="2487240"/>
            <a:ext cx="27000" cy="18252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5" name="Shape 18"/>
          <p:cNvSpPr/>
          <p:nvPr/>
        </p:nvSpPr>
        <p:spPr>
          <a:xfrm>
            <a:off x="457200" y="2633400"/>
            <a:ext cx="347040" cy="347040"/>
          </a:xfrm>
          <a:prstGeom prst="ellipse">
            <a:avLst/>
          </a:prstGeom>
          <a:solidFill>
            <a:srgbClr val="0070F3"/>
          </a:solidFill>
          <a:ln w="12700">
            <a:solidFill>
              <a:srgbClr val="0070F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6" name="Text 19"/>
          <p:cNvSpPr/>
          <p:nvPr/>
        </p:nvSpPr>
        <p:spPr>
          <a:xfrm>
            <a:off x="457200" y="2642760"/>
            <a:ext cx="3470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3</a:t>
            </a:r>
            <a:endParaRPr lang="en-US" sz="1100" b="0" u="none" strike="noStrike">
              <a:solidFill>
                <a:srgbClr val="FFFFFF"/>
              </a:solidFill>
              <a:effectLst/>
              <a:uFillTx/>
              <a:latin typeface="Arial"/>
            </a:endParaRPr>
          </a:p>
        </p:txBody>
      </p:sp>
      <p:sp>
        <p:nvSpPr>
          <p:cNvPr id="187" name="Text 20"/>
          <p:cNvSpPr/>
          <p:nvPr/>
        </p:nvSpPr>
        <p:spPr>
          <a:xfrm>
            <a:off x="960120" y="2633400"/>
            <a:ext cx="324576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8EFF8"/>
                </a:solidFill>
                <a:effectLst/>
                <a:uFillTx/>
                <a:latin typeface="Calibri"/>
                <a:ea typeface="Calibri"/>
              </a:rPr>
              <a:t>Developer reviews generated code with context</a:t>
            </a:r>
            <a:endParaRPr lang="en-US" sz="1100" b="0" u="none" strike="noStrike">
              <a:solidFill>
                <a:srgbClr val="FFFFFF"/>
              </a:solidFill>
              <a:effectLst/>
              <a:uFillTx/>
              <a:latin typeface="Arial"/>
            </a:endParaRPr>
          </a:p>
        </p:txBody>
      </p:sp>
      <p:sp>
        <p:nvSpPr>
          <p:cNvPr id="188" name="Shape 21"/>
          <p:cNvSpPr/>
          <p:nvPr/>
        </p:nvSpPr>
        <p:spPr>
          <a:xfrm>
            <a:off x="612720" y="2999160"/>
            <a:ext cx="27000" cy="18252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9" name="Shape 22"/>
          <p:cNvSpPr/>
          <p:nvPr/>
        </p:nvSpPr>
        <p:spPr>
          <a:xfrm>
            <a:off x="457200" y="3145680"/>
            <a:ext cx="347040" cy="347040"/>
          </a:xfrm>
          <a:prstGeom prst="ellipse">
            <a:avLst/>
          </a:prstGeom>
          <a:solidFill>
            <a:srgbClr val="00D68F"/>
          </a:solidFill>
          <a:ln w="12700">
            <a:solidFill>
              <a:srgbClr val="00D68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0" name="Text 23"/>
          <p:cNvSpPr/>
          <p:nvPr/>
        </p:nvSpPr>
        <p:spPr>
          <a:xfrm>
            <a:off x="457200" y="3154680"/>
            <a:ext cx="3470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4</a:t>
            </a:r>
            <a:endParaRPr lang="en-US" sz="1100" b="0" u="none" strike="noStrike">
              <a:solidFill>
                <a:srgbClr val="FFFFFF"/>
              </a:solidFill>
              <a:effectLst/>
              <a:uFillTx/>
              <a:latin typeface="Arial"/>
            </a:endParaRPr>
          </a:p>
        </p:txBody>
      </p:sp>
      <p:sp>
        <p:nvSpPr>
          <p:cNvPr id="191" name="Text 24"/>
          <p:cNvSpPr/>
          <p:nvPr/>
        </p:nvSpPr>
        <p:spPr>
          <a:xfrm>
            <a:off x="960120" y="3145680"/>
            <a:ext cx="324576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8EFF8"/>
                </a:solidFill>
                <a:effectLst/>
                <a:uFillTx/>
                <a:latin typeface="Calibri"/>
                <a:ea typeface="Calibri"/>
              </a:rPr>
              <a:t>Validation feedback explains violations</a:t>
            </a:r>
            <a:endParaRPr lang="en-US" sz="1100" b="0" u="none" strike="noStrike">
              <a:solidFill>
                <a:srgbClr val="FFFFFF"/>
              </a:solidFill>
              <a:effectLst/>
              <a:uFillTx/>
              <a:latin typeface="Arial"/>
            </a:endParaRPr>
          </a:p>
        </p:txBody>
      </p:sp>
      <p:sp>
        <p:nvSpPr>
          <p:cNvPr id="192" name="Shape 25"/>
          <p:cNvSpPr/>
          <p:nvPr/>
        </p:nvSpPr>
        <p:spPr>
          <a:xfrm>
            <a:off x="612720" y="3511440"/>
            <a:ext cx="27000" cy="18252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3" name="Shape 26"/>
          <p:cNvSpPr/>
          <p:nvPr/>
        </p:nvSpPr>
        <p:spPr>
          <a:xfrm>
            <a:off x="457200" y="3657600"/>
            <a:ext cx="347040" cy="347040"/>
          </a:xfrm>
          <a:prstGeom prst="ellipse">
            <a:avLst/>
          </a:prstGeom>
          <a:solidFill>
            <a:srgbClr val="00D68F"/>
          </a:solidFill>
          <a:ln w="12700">
            <a:solidFill>
              <a:srgbClr val="00D68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4" name="Text 27"/>
          <p:cNvSpPr/>
          <p:nvPr/>
        </p:nvSpPr>
        <p:spPr>
          <a:xfrm>
            <a:off x="457200" y="3666600"/>
            <a:ext cx="3470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5</a:t>
            </a:r>
            <a:endParaRPr lang="en-US" sz="1100" b="0" u="none" strike="noStrike">
              <a:solidFill>
                <a:srgbClr val="FFFFFF"/>
              </a:solidFill>
              <a:effectLst/>
              <a:uFillTx/>
              <a:latin typeface="Arial"/>
            </a:endParaRPr>
          </a:p>
        </p:txBody>
      </p:sp>
      <p:sp>
        <p:nvSpPr>
          <p:cNvPr id="195" name="Text 28"/>
          <p:cNvSpPr/>
          <p:nvPr/>
        </p:nvSpPr>
        <p:spPr>
          <a:xfrm>
            <a:off x="960120" y="3657600"/>
            <a:ext cx="324576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8EFF8"/>
                </a:solidFill>
                <a:effectLst/>
                <a:uFillTx/>
                <a:latin typeface="Calibri"/>
                <a:ea typeface="Calibri"/>
              </a:rPr>
              <a:t>Developer internalizes the pattern</a:t>
            </a:r>
            <a:endParaRPr lang="en-US" sz="1100" b="0" u="none" strike="noStrike">
              <a:solidFill>
                <a:srgbClr val="FFFFFF"/>
              </a:solidFill>
              <a:effectLst/>
              <a:uFillTx/>
              <a:latin typeface="Arial"/>
            </a:endParaRPr>
          </a:p>
        </p:txBody>
      </p:sp>
      <p:sp>
        <p:nvSpPr>
          <p:cNvPr id="196" name="Shape 29"/>
          <p:cNvSpPr/>
          <p:nvPr/>
        </p:nvSpPr>
        <p:spPr>
          <a:xfrm>
            <a:off x="612720" y="4023360"/>
            <a:ext cx="27000" cy="18252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7" name="Shape 30"/>
          <p:cNvSpPr/>
          <p:nvPr/>
        </p:nvSpPr>
        <p:spPr>
          <a:xfrm>
            <a:off x="457200" y="4169520"/>
            <a:ext cx="347040" cy="347040"/>
          </a:xfrm>
          <a:prstGeom prst="ellipse">
            <a:avLst/>
          </a:prstGeom>
          <a:solidFill>
            <a:srgbClr val="00D68F"/>
          </a:solidFill>
          <a:ln w="12700">
            <a:solidFill>
              <a:srgbClr val="00D68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Text 31"/>
          <p:cNvSpPr/>
          <p:nvPr/>
        </p:nvSpPr>
        <p:spPr>
          <a:xfrm>
            <a:off x="457200" y="4178880"/>
            <a:ext cx="3470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Calibri"/>
                <a:ea typeface="Calibri"/>
              </a:rPr>
              <a:t>6</a:t>
            </a:r>
            <a:endParaRPr lang="en-US" sz="1100" b="0" u="none" strike="noStrike">
              <a:solidFill>
                <a:srgbClr val="FFFFFF"/>
              </a:solidFill>
              <a:effectLst/>
              <a:uFillTx/>
              <a:latin typeface="Arial"/>
            </a:endParaRPr>
          </a:p>
        </p:txBody>
      </p:sp>
      <p:sp>
        <p:nvSpPr>
          <p:cNvPr id="199" name="Text 32"/>
          <p:cNvSpPr/>
          <p:nvPr/>
        </p:nvSpPr>
        <p:spPr>
          <a:xfrm>
            <a:off x="960120" y="4169520"/>
            <a:ext cx="324576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E8EFF8"/>
                </a:solidFill>
                <a:effectLst/>
                <a:uFillTx/>
                <a:latin typeface="Calibri"/>
                <a:ea typeface="Calibri"/>
              </a:rPr>
              <a:t>Next time: faster, more accurate first attempt</a:t>
            </a:r>
            <a:endParaRPr lang="en-US" sz="1100" b="0" u="none" strike="noStrike">
              <a:solidFill>
                <a:srgbClr val="FFFFFF"/>
              </a:solidFill>
              <a:effectLst/>
              <a:uFillTx/>
              <a:latin typeface="Arial"/>
            </a:endParaRPr>
          </a:p>
        </p:txBody>
      </p:sp>
      <p:sp>
        <p:nvSpPr>
          <p:cNvPr id="200" name="Shape 33"/>
          <p:cNvSpPr/>
          <p:nvPr/>
        </p:nvSpPr>
        <p:spPr>
          <a:xfrm>
            <a:off x="4645080" y="1078920"/>
            <a:ext cx="4160160" cy="10785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1" name="Shape 34"/>
          <p:cNvSpPr/>
          <p:nvPr/>
        </p:nvSpPr>
        <p:spPr>
          <a:xfrm>
            <a:off x="4645080" y="1078920"/>
            <a:ext cx="45360" cy="1078560"/>
          </a:xfrm>
          <a:prstGeom prst="rect">
            <a:avLst/>
          </a:prstGeom>
          <a:solidFill>
            <a:srgbClr val="00C8C8"/>
          </a:solidFill>
          <a:ln w="12700">
            <a:solidFill>
              <a:srgbClr val="00C8C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2" name="Text 35"/>
          <p:cNvSpPr/>
          <p:nvPr/>
        </p:nvSpPr>
        <p:spPr>
          <a:xfrm>
            <a:off x="4846320" y="1170360"/>
            <a:ext cx="37486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C8C8"/>
                </a:solidFill>
                <a:effectLst/>
                <a:uFillTx/>
                <a:latin typeface="Calibri"/>
                <a:ea typeface="Calibri"/>
              </a:rPr>
              <a:t>Active knowledge transfer</a:t>
            </a:r>
            <a:endParaRPr lang="en-US" sz="1200" b="0" u="none" strike="noStrike">
              <a:solidFill>
                <a:srgbClr val="FFFFFF"/>
              </a:solidFill>
              <a:effectLst/>
              <a:uFillTx/>
              <a:latin typeface="Arial"/>
            </a:endParaRPr>
          </a:p>
        </p:txBody>
      </p:sp>
      <p:sp>
        <p:nvSpPr>
          <p:cNvPr id="203" name="Text 36"/>
          <p:cNvSpPr/>
          <p:nvPr/>
        </p:nvSpPr>
        <p:spPr>
          <a:xfrm>
            <a:off x="4846320" y="1536120"/>
            <a:ext cx="37486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A8BDD0"/>
                </a:solidFill>
                <a:effectLst/>
                <a:uFillTx/>
                <a:latin typeface="Calibri"/>
                <a:ea typeface="Calibri"/>
              </a:rPr>
              <a:t>When the AI cites which Pattern Module it used and why, the developer reads that reasoning with every PR. Over time, they stop needing to ask.</a:t>
            </a:r>
            <a:endParaRPr lang="en-US" sz="1000" b="0" u="none" strike="noStrike">
              <a:solidFill>
                <a:srgbClr val="FFFFFF"/>
              </a:solidFill>
              <a:effectLst/>
              <a:uFillTx/>
              <a:latin typeface="Arial"/>
            </a:endParaRPr>
          </a:p>
        </p:txBody>
      </p:sp>
      <p:sp>
        <p:nvSpPr>
          <p:cNvPr id="204" name="Shape 37"/>
          <p:cNvSpPr/>
          <p:nvPr/>
        </p:nvSpPr>
        <p:spPr>
          <a:xfrm>
            <a:off x="4645080" y="2304360"/>
            <a:ext cx="4160160" cy="10785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5" name="Shape 38"/>
          <p:cNvSpPr/>
          <p:nvPr/>
        </p:nvSpPr>
        <p:spPr>
          <a:xfrm>
            <a:off x="4645080" y="2304360"/>
            <a:ext cx="45360" cy="1078560"/>
          </a:xfrm>
          <a:prstGeom prst="rect">
            <a:avLst/>
          </a:prstGeom>
          <a:solidFill>
            <a:srgbClr val="00D68F"/>
          </a:solidFill>
          <a:ln w="12700">
            <a:solidFill>
              <a:srgbClr val="00D68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Text 39"/>
          <p:cNvSpPr/>
          <p:nvPr/>
        </p:nvSpPr>
        <p:spPr>
          <a:xfrm>
            <a:off x="4846320" y="2395800"/>
            <a:ext cx="37486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D68F"/>
                </a:solidFill>
                <a:effectLst/>
                <a:uFillTx/>
                <a:latin typeface="Calibri"/>
                <a:ea typeface="Calibri"/>
              </a:rPr>
              <a:t>Juniors deliver senior-quality output</a:t>
            </a:r>
            <a:endParaRPr lang="en-US" sz="1200" b="0" u="none" strike="noStrike">
              <a:solidFill>
                <a:srgbClr val="FFFFFF"/>
              </a:solidFill>
              <a:effectLst/>
              <a:uFillTx/>
              <a:latin typeface="Arial"/>
            </a:endParaRPr>
          </a:p>
        </p:txBody>
      </p:sp>
      <p:sp>
        <p:nvSpPr>
          <p:cNvPr id="207" name="Text 40"/>
          <p:cNvSpPr/>
          <p:nvPr/>
        </p:nvSpPr>
        <p:spPr>
          <a:xfrm>
            <a:off x="4846320" y="2761560"/>
            <a:ext cx="37486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A8BDD0"/>
                </a:solidFill>
                <a:effectLst/>
                <a:uFillTx/>
                <a:latin typeface="Calibri"/>
                <a:ea typeface="Calibri"/>
              </a:rPr>
              <a:t>A junior engineer with an AI IDE connected to the WAM MCP server produces output that passes the same policy gates as a senior's hand-crafted Terraform — immediately.</a:t>
            </a:r>
            <a:endParaRPr lang="en-US" sz="1000" b="0" u="none" strike="noStrike">
              <a:solidFill>
                <a:srgbClr val="FFFFFF"/>
              </a:solidFill>
              <a:effectLst/>
              <a:uFillTx/>
              <a:latin typeface="Arial"/>
            </a:endParaRPr>
          </a:p>
        </p:txBody>
      </p:sp>
      <p:sp>
        <p:nvSpPr>
          <p:cNvPr id="208" name="Shape 41"/>
          <p:cNvSpPr/>
          <p:nvPr/>
        </p:nvSpPr>
        <p:spPr>
          <a:xfrm>
            <a:off x="4645080" y="3529440"/>
            <a:ext cx="4160160" cy="10785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9" name="Shape 42"/>
          <p:cNvSpPr/>
          <p:nvPr/>
        </p:nvSpPr>
        <p:spPr>
          <a:xfrm>
            <a:off x="4645080" y="3529440"/>
            <a:ext cx="45360" cy="1078560"/>
          </a:xfrm>
          <a:prstGeom prst="rect">
            <a:avLst/>
          </a:prstGeom>
          <a:solidFill>
            <a:srgbClr val="FFB830"/>
          </a:solidFill>
          <a:ln w="12700">
            <a:solidFill>
              <a:srgbClr val="FFB83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0" name="Text 43"/>
          <p:cNvSpPr/>
          <p:nvPr/>
        </p:nvSpPr>
        <p:spPr>
          <a:xfrm>
            <a:off x="4846320" y="3620880"/>
            <a:ext cx="37486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B830"/>
                </a:solidFill>
                <a:effectLst/>
                <a:uFillTx/>
                <a:latin typeface="Calibri"/>
                <a:ea typeface="Calibri"/>
              </a:rPr>
              <a:t>Tribal knowledge becomes institutional</a:t>
            </a:r>
            <a:endParaRPr lang="en-US" sz="1200" b="0" u="none" strike="noStrike">
              <a:solidFill>
                <a:srgbClr val="FFFFFF"/>
              </a:solidFill>
              <a:effectLst/>
              <a:uFillTx/>
              <a:latin typeface="Arial"/>
            </a:endParaRPr>
          </a:p>
        </p:txBody>
      </p:sp>
      <p:sp>
        <p:nvSpPr>
          <p:cNvPr id="211" name="Text 44"/>
          <p:cNvSpPr/>
          <p:nvPr/>
        </p:nvSpPr>
        <p:spPr>
          <a:xfrm>
            <a:off x="4846320" y="3986640"/>
            <a:ext cx="37486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A8BDD0"/>
                </a:solidFill>
                <a:effectLst/>
                <a:uFillTx/>
                <a:latin typeface="Calibri"/>
                <a:ea typeface="Calibri"/>
              </a:rPr>
              <a:t>The MCP server's knowledge base captures CloudNation's years of WAM decisions. Every developer gets access to that knowledge — not just the ones who've been here five years.</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212"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213"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Built for Enterprise: Security &amp; Governance by Design</a:t>
            </a:r>
            <a:endParaRPr lang="en-US" sz="2600" b="0" u="none" strike="noStrike">
              <a:solidFill>
                <a:srgbClr val="FFFFFF"/>
              </a:solidFill>
              <a:effectLst/>
              <a:uFillTx/>
              <a:latin typeface="Arial"/>
            </a:endParaRPr>
          </a:p>
        </p:txBody>
      </p:sp>
      <p:sp>
        <p:nvSpPr>
          <p:cNvPr id="214"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The system is zero-trust toward the AI at every layer — because compliance must be structural, not instructional</a:t>
            </a:r>
            <a:endParaRPr lang="en-US" sz="1200" b="0" u="none" strike="noStrike">
              <a:solidFill>
                <a:srgbClr val="FFFFFF"/>
              </a:solidFill>
              <a:effectLst/>
              <a:uFillTx/>
              <a:latin typeface="Arial"/>
            </a:endParaRPr>
          </a:p>
        </p:txBody>
      </p:sp>
      <p:sp>
        <p:nvSpPr>
          <p:cNvPr id="215"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6"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217"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8 / 12</a:t>
            </a:r>
            <a:endParaRPr lang="en-US" sz="800" b="0" u="none" strike="noStrike">
              <a:solidFill>
                <a:srgbClr val="FFFFFF"/>
              </a:solidFill>
              <a:effectLst/>
              <a:uFillTx/>
              <a:latin typeface="Arial"/>
            </a:endParaRPr>
          </a:p>
        </p:txBody>
      </p:sp>
      <p:sp>
        <p:nvSpPr>
          <p:cNvPr id="218"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219" name="Shape 7"/>
          <p:cNvSpPr/>
          <p:nvPr/>
        </p:nvSpPr>
        <p:spPr>
          <a:xfrm>
            <a:off x="274320" y="1078920"/>
            <a:ext cx="4114440" cy="178272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Shape 8"/>
          <p:cNvSpPr/>
          <p:nvPr/>
        </p:nvSpPr>
        <p:spPr>
          <a:xfrm>
            <a:off x="274320" y="1078920"/>
            <a:ext cx="4114440" cy="54360"/>
          </a:xfrm>
          <a:prstGeom prst="rect">
            <a:avLst/>
          </a:prstGeom>
          <a:solidFill>
            <a:srgbClr val="0070F3"/>
          </a:solidFill>
          <a:ln w="12700">
            <a:solidFill>
              <a:srgbClr val="0070F3"/>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221" name="Text 9"/>
          <p:cNvSpPr/>
          <p:nvPr/>
        </p:nvSpPr>
        <p:spPr>
          <a:xfrm>
            <a:off x="457200" y="1225440"/>
            <a:ext cx="4568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000000"/>
                </a:solidFill>
                <a:effectLst/>
                <a:uFillTx/>
                <a:latin typeface="Segoe UI Emoji"/>
                <a:ea typeface="Segoe UI Emoji"/>
              </a:rPr>
              <a:t>🔒</a:t>
            </a:r>
            <a:endParaRPr lang="en-US" sz="2200" b="0" u="none" strike="noStrike">
              <a:solidFill>
                <a:srgbClr val="FFFFFF"/>
              </a:solidFill>
              <a:effectLst/>
              <a:uFillTx/>
              <a:latin typeface="Arial"/>
            </a:endParaRPr>
          </a:p>
        </p:txBody>
      </p:sp>
      <p:sp>
        <p:nvSpPr>
          <p:cNvPr id="222" name="Text 10"/>
          <p:cNvSpPr/>
          <p:nvPr/>
        </p:nvSpPr>
        <p:spPr>
          <a:xfrm>
            <a:off x="1024200" y="1225440"/>
            <a:ext cx="3200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70F3"/>
                </a:solidFill>
                <a:effectLst/>
                <a:uFillTx/>
                <a:latin typeface="Calibri"/>
                <a:ea typeface="Calibri"/>
              </a:rPr>
              <a:t>AI Never Touches State</a:t>
            </a:r>
            <a:endParaRPr lang="en-US" sz="1300" b="0" u="none" strike="noStrike">
              <a:solidFill>
                <a:srgbClr val="FFFFFF"/>
              </a:solidFill>
              <a:effectLst/>
              <a:uFillTx/>
              <a:latin typeface="Arial"/>
            </a:endParaRPr>
          </a:p>
        </p:txBody>
      </p:sp>
      <p:sp>
        <p:nvSpPr>
          <p:cNvPr id="223" name="Text 11"/>
          <p:cNvSpPr/>
          <p:nvPr/>
        </p:nvSpPr>
        <p:spPr>
          <a:xfrm>
            <a:off x="1024200" y="1627560"/>
            <a:ext cx="3200040" cy="1115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8BDD0"/>
                </a:solidFill>
                <a:effectLst/>
                <a:uFillTx/>
                <a:latin typeface="Calibri"/>
                <a:ea typeface="Calibri"/>
              </a:rPr>
              <a:t>The MCP server has zero access to Terraform state backends. Production credentials never enter the agent's context window. State is a CI/CD concern, not a developer tooling concern.</a:t>
            </a:r>
            <a:endParaRPr lang="en-US" sz="1050" b="0" u="none" strike="noStrike">
              <a:solidFill>
                <a:srgbClr val="FFFFFF"/>
              </a:solidFill>
              <a:effectLst/>
              <a:uFillTx/>
              <a:latin typeface="Arial"/>
            </a:endParaRPr>
          </a:p>
        </p:txBody>
      </p:sp>
      <p:sp>
        <p:nvSpPr>
          <p:cNvPr id="224" name="Shape 12"/>
          <p:cNvSpPr/>
          <p:nvPr/>
        </p:nvSpPr>
        <p:spPr>
          <a:xfrm>
            <a:off x="4709160" y="1078920"/>
            <a:ext cx="4114440" cy="178272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5" name="Shape 13"/>
          <p:cNvSpPr/>
          <p:nvPr/>
        </p:nvSpPr>
        <p:spPr>
          <a:xfrm>
            <a:off x="4709160" y="1078920"/>
            <a:ext cx="4114440" cy="54360"/>
          </a:xfrm>
          <a:prstGeom prst="rect">
            <a:avLst/>
          </a:prstGeom>
          <a:solidFill>
            <a:srgbClr val="00C8C8"/>
          </a:solidFill>
          <a:ln w="12700">
            <a:solidFill>
              <a:srgbClr val="00C8C8"/>
            </a:solidFill>
            <a:round/>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226" name="Text 14"/>
          <p:cNvSpPr/>
          <p:nvPr/>
        </p:nvSpPr>
        <p:spPr>
          <a:xfrm>
            <a:off x="4892040" y="1225440"/>
            <a:ext cx="4568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000000"/>
                </a:solidFill>
                <a:effectLst/>
                <a:uFillTx/>
                <a:latin typeface="Segoe UI Emoji"/>
                <a:ea typeface="Segoe UI Emoji"/>
              </a:rPr>
              <a:t>🛡</a:t>
            </a:r>
            <a:endParaRPr lang="en-US" sz="2200" b="0" u="none" strike="noStrike">
              <a:solidFill>
                <a:srgbClr val="FFFFFF"/>
              </a:solidFill>
              <a:effectLst/>
              <a:uFillTx/>
              <a:latin typeface="Arial"/>
            </a:endParaRPr>
          </a:p>
        </p:txBody>
      </p:sp>
      <p:sp>
        <p:nvSpPr>
          <p:cNvPr id="227" name="Text 15"/>
          <p:cNvSpPr/>
          <p:nvPr/>
        </p:nvSpPr>
        <p:spPr>
          <a:xfrm>
            <a:off x="5459040" y="1225440"/>
            <a:ext cx="3200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C8C8"/>
                </a:solidFill>
                <a:effectLst/>
                <a:uFillTx/>
                <a:latin typeface="Calibri"/>
                <a:ea typeface="Calibri"/>
              </a:rPr>
              <a:t>Prompt Injection Protection</a:t>
            </a:r>
            <a:endParaRPr lang="en-US" sz="1300" b="0" u="none" strike="noStrike">
              <a:solidFill>
                <a:srgbClr val="FFFFFF"/>
              </a:solidFill>
              <a:effectLst/>
              <a:uFillTx/>
              <a:latin typeface="Arial"/>
            </a:endParaRPr>
          </a:p>
        </p:txBody>
      </p:sp>
      <p:sp>
        <p:nvSpPr>
          <p:cNvPr id="228" name="Text 16"/>
          <p:cNvSpPr/>
          <p:nvPr/>
        </p:nvSpPr>
        <p:spPr>
          <a:xfrm>
            <a:off x="5459040" y="1627560"/>
            <a:ext cx="3200040" cy="1115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8BDD0"/>
                </a:solidFill>
                <a:effectLst/>
                <a:uFillTx/>
                <a:latin typeface="Calibri"/>
                <a:ea typeface="Calibri"/>
              </a:rPr>
              <a:t>All externally-sourced content (module docs, PR comments) is sanitised before injection. OPA policy enforcement is independent of AI output — it cannot be overridden by a prompt.</a:t>
            </a:r>
            <a:endParaRPr lang="en-US" sz="1050" b="0" u="none" strike="noStrike">
              <a:solidFill>
                <a:srgbClr val="FFFFFF"/>
              </a:solidFill>
              <a:effectLst/>
              <a:uFillTx/>
              <a:latin typeface="Arial"/>
            </a:endParaRPr>
          </a:p>
        </p:txBody>
      </p:sp>
      <p:sp>
        <p:nvSpPr>
          <p:cNvPr id="229" name="Shape 17"/>
          <p:cNvSpPr/>
          <p:nvPr/>
        </p:nvSpPr>
        <p:spPr>
          <a:xfrm>
            <a:off x="274320" y="2999160"/>
            <a:ext cx="4114440" cy="178272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0" name="Shape 18"/>
          <p:cNvSpPr/>
          <p:nvPr/>
        </p:nvSpPr>
        <p:spPr>
          <a:xfrm>
            <a:off x="274320" y="2999160"/>
            <a:ext cx="4114440" cy="54360"/>
          </a:xfrm>
          <a:prstGeom prst="rect">
            <a:avLst/>
          </a:prstGeom>
          <a:solidFill>
            <a:srgbClr val="00D68F"/>
          </a:solidFill>
          <a:ln w="12700">
            <a:solidFill>
              <a:srgbClr val="00D68F"/>
            </a:solidFill>
            <a:round/>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231" name="Text 19"/>
          <p:cNvSpPr/>
          <p:nvPr/>
        </p:nvSpPr>
        <p:spPr>
          <a:xfrm>
            <a:off x="457200" y="3145680"/>
            <a:ext cx="4568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000000"/>
                </a:solidFill>
                <a:effectLst/>
                <a:uFillTx/>
                <a:latin typeface="Segoe UI Emoji"/>
                <a:ea typeface="Segoe UI Emoji"/>
              </a:rPr>
              <a:t>📋</a:t>
            </a:r>
            <a:endParaRPr lang="en-US" sz="2200" b="0" u="none" strike="noStrike">
              <a:solidFill>
                <a:srgbClr val="FFFFFF"/>
              </a:solidFill>
              <a:effectLst/>
              <a:uFillTx/>
              <a:latin typeface="Arial"/>
            </a:endParaRPr>
          </a:p>
        </p:txBody>
      </p:sp>
      <p:sp>
        <p:nvSpPr>
          <p:cNvPr id="232" name="Text 20"/>
          <p:cNvSpPr/>
          <p:nvPr/>
        </p:nvSpPr>
        <p:spPr>
          <a:xfrm>
            <a:off x="1024200" y="3145680"/>
            <a:ext cx="3200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0D68F"/>
                </a:solidFill>
                <a:effectLst/>
                <a:uFillTx/>
                <a:latin typeface="Calibri"/>
                <a:ea typeface="Calibri"/>
              </a:rPr>
              <a:t>Full Audit Trail</a:t>
            </a:r>
            <a:endParaRPr lang="en-US" sz="1300" b="0" u="none" strike="noStrike">
              <a:solidFill>
                <a:srgbClr val="FFFFFF"/>
              </a:solidFill>
              <a:effectLst/>
              <a:uFillTx/>
              <a:latin typeface="Arial"/>
            </a:endParaRPr>
          </a:p>
        </p:txBody>
      </p:sp>
      <p:sp>
        <p:nvSpPr>
          <p:cNvPr id="233" name="Text 21"/>
          <p:cNvSpPr/>
          <p:nvPr/>
        </p:nvSpPr>
        <p:spPr>
          <a:xfrm>
            <a:off x="1024200" y="3547800"/>
            <a:ext cx="3200040" cy="1115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8BDD0"/>
                </a:solidFill>
                <a:effectLst/>
                <a:uFillTx/>
                <a:latin typeface="Calibri"/>
                <a:ea typeface="Calibri"/>
              </a:rPr>
              <a:t>Every MCP session is logged with structured entries — session identity, tool inputs, outputs, timestamps — written to an immutable append-only Log Analytics workspace.</a:t>
            </a:r>
            <a:endParaRPr lang="en-US" sz="1050" b="0" u="none" strike="noStrike">
              <a:solidFill>
                <a:srgbClr val="FFFFFF"/>
              </a:solidFill>
              <a:effectLst/>
              <a:uFillTx/>
              <a:latin typeface="Arial"/>
            </a:endParaRPr>
          </a:p>
        </p:txBody>
      </p:sp>
      <p:sp>
        <p:nvSpPr>
          <p:cNvPr id="234" name="Shape 22"/>
          <p:cNvSpPr/>
          <p:nvPr/>
        </p:nvSpPr>
        <p:spPr>
          <a:xfrm>
            <a:off x="4709160" y="2999160"/>
            <a:ext cx="4114440" cy="178272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5" name="Shape 23"/>
          <p:cNvSpPr/>
          <p:nvPr/>
        </p:nvSpPr>
        <p:spPr>
          <a:xfrm>
            <a:off x="4709160" y="2999160"/>
            <a:ext cx="4114440" cy="54360"/>
          </a:xfrm>
          <a:prstGeom prst="rect">
            <a:avLst/>
          </a:prstGeom>
          <a:solidFill>
            <a:srgbClr val="FFB830"/>
          </a:solidFill>
          <a:ln w="12700">
            <a:solidFill>
              <a:srgbClr val="FFB830"/>
            </a:solidFill>
            <a:round/>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236" name="Text 24"/>
          <p:cNvSpPr/>
          <p:nvPr/>
        </p:nvSpPr>
        <p:spPr>
          <a:xfrm>
            <a:off x="4892040" y="3145680"/>
            <a:ext cx="4568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rgbClr val="000000"/>
                </a:solidFill>
                <a:effectLst/>
                <a:uFillTx/>
                <a:latin typeface="Segoe UI Emoji"/>
                <a:ea typeface="Segoe UI Emoji"/>
              </a:rPr>
              <a:t>🚦</a:t>
            </a:r>
            <a:endParaRPr lang="en-US" sz="2200" b="0" u="none" strike="noStrike">
              <a:solidFill>
                <a:srgbClr val="FFFFFF"/>
              </a:solidFill>
              <a:effectLst/>
              <a:uFillTx/>
              <a:latin typeface="Arial"/>
            </a:endParaRPr>
          </a:p>
        </p:txBody>
      </p:sp>
      <p:sp>
        <p:nvSpPr>
          <p:cNvPr id="237" name="Text 25"/>
          <p:cNvSpPr/>
          <p:nvPr/>
        </p:nvSpPr>
        <p:spPr>
          <a:xfrm>
            <a:off x="5459040" y="3145680"/>
            <a:ext cx="32000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B830"/>
                </a:solidFill>
                <a:effectLst/>
                <a:uFillTx/>
                <a:latin typeface="Calibri"/>
                <a:ea typeface="Calibri"/>
              </a:rPr>
              <a:t>AI Generates. CI/CD Executes.</a:t>
            </a:r>
            <a:endParaRPr lang="en-US" sz="1300" b="0" u="none" strike="noStrike">
              <a:solidFill>
                <a:srgbClr val="FFFFFF"/>
              </a:solidFill>
              <a:effectLst/>
              <a:uFillTx/>
              <a:latin typeface="Arial"/>
            </a:endParaRPr>
          </a:p>
        </p:txBody>
      </p:sp>
      <p:sp>
        <p:nvSpPr>
          <p:cNvPr id="238" name="Text 26"/>
          <p:cNvSpPr/>
          <p:nvPr/>
        </p:nvSpPr>
        <p:spPr>
          <a:xfrm>
            <a:off x="5459040" y="3547800"/>
            <a:ext cx="3200040" cy="1115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A8BDD0"/>
                </a:solidFill>
                <a:effectLst/>
                <a:uFillTx/>
                <a:latin typeface="Calibri"/>
                <a:ea typeface="Calibri"/>
              </a:rPr>
              <a:t>terraform apply is exclusively executed by the CI/CD pipeline under a short-lived OIDC identity. The AI cannot trigger infrastructure changes directly — ever.</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239"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240"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System Architecture: How the Components Connect</a:t>
            </a:r>
            <a:endParaRPr lang="en-US" sz="2600" b="0" u="none" strike="noStrike">
              <a:solidFill>
                <a:srgbClr val="FFFFFF"/>
              </a:solidFill>
              <a:effectLst/>
              <a:uFillTx/>
              <a:latin typeface="Arial"/>
            </a:endParaRPr>
          </a:p>
        </p:txBody>
      </p:sp>
      <p:sp>
        <p:nvSpPr>
          <p:cNvPr id="241"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For the technical architects in the room — the full integration stack</a:t>
            </a:r>
            <a:endParaRPr lang="en-US" sz="1200" b="0" u="none" strike="noStrike">
              <a:solidFill>
                <a:srgbClr val="FFFFFF"/>
              </a:solidFill>
              <a:effectLst/>
              <a:uFillTx/>
              <a:latin typeface="Arial"/>
            </a:endParaRPr>
          </a:p>
        </p:txBody>
      </p:sp>
      <p:sp>
        <p:nvSpPr>
          <p:cNvPr id="242"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3"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244"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9 / 12</a:t>
            </a:r>
            <a:endParaRPr lang="en-US" sz="800" b="0" u="none" strike="noStrike">
              <a:solidFill>
                <a:srgbClr val="FFFFFF"/>
              </a:solidFill>
              <a:effectLst/>
              <a:uFillTx/>
              <a:latin typeface="Arial"/>
            </a:endParaRPr>
          </a:p>
        </p:txBody>
      </p:sp>
      <p:sp>
        <p:nvSpPr>
          <p:cNvPr id="245"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246" name="Text 7"/>
          <p:cNvSpPr/>
          <p:nvPr/>
        </p:nvSpPr>
        <p:spPr>
          <a:xfrm>
            <a:off x="274320" y="1051560"/>
            <a:ext cx="1554120" cy="95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pc="150" strike="noStrike">
                <a:solidFill>
                  <a:srgbClr val="0070F3"/>
                </a:solidFill>
                <a:effectLst/>
                <a:uFillTx/>
                <a:latin typeface="Calibri"/>
                <a:ea typeface="Calibri"/>
              </a:rPr>
              <a:t>DEVELOPER LAYER</a:t>
            </a:r>
            <a:endParaRPr lang="en-US" sz="850" b="0" u="none" strike="noStrike">
              <a:solidFill>
                <a:srgbClr val="FFFFFF"/>
              </a:solidFill>
              <a:effectLst/>
              <a:uFillTx/>
              <a:latin typeface="Arial"/>
            </a:endParaRPr>
          </a:p>
        </p:txBody>
      </p:sp>
      <p:sp>
        <p:nvSpPr>
          <p:cNvPr id="247" name="Shape 8"/>
          <p:cNvSpPr/>
          <p:nvPr/>
        </p:nvSpPr>
        <p:spPr>
          <a:xfrm>
            <a:off x="274320" y="1051560"/>
            <a:ext cx="1554120" cy="9597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8" name="Shape 9"/>
          <p:cNvSpPr/>
          <p:nvPr/>
        </p:nvSpPr>
        <p:spPr>
          <a:xfrm>
            <a:off x="274320" y="1051560"/>
            <a:ext cx="1554120" cy="45360"/>
          </a:xfrm>
          <a:prstGeom prst="rect">
            <a:avLst/>
          </a:prstGeom>
          <a:solidFill>
            <a:srgbClr val="0070F3"/>
          </a:solidFill>
          <a:ln w="12700">
            <a:solidFill>
              <a:srgbClr val="0070F3"/>
            </a:solidFill>
            <a:round/>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
        <p:nvSpPr>
          <p:cNvPr id="249" name="Text 10"/>
          <p:cNvSpPr/>
          <p:nvPr/>
        </p:nvSpPr>
        <p:spPr>
          <a:xfrm>
            <a:off x="292680" y="1371600"/>
            <a:ext cx="15174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pc="99" strike="noStrike">
                <a:solidFill>
                  <a:srgbClr val="0070F3"/>
                </a:solidFill>
                <a:effectLst/>
                <a:uFillTx/>
                <a:latin typeface="Calibri"/>
                <a:ea typeface="Calibri"/>
              </a:rPr>
              <a:t>DEVELOPER LAYER</a:t>
            </a:r>
            <a:endParaRPr lang="en-US" sz="800" b="0" u="none" strike="noStrike">
              <a:solidFill>
                <a:srgbClr val="FFFFFF"/>
              </a:solidFill>
              <a:effectLst/>
              <a:uFillTx/>
              <a:latin typeface="Arial"/>
            </a:endParaRPr>
          </a:p>
        </p:txBody>
      </p:sp>
      <p:sp>
        <p:nvSpPr>
          <p:cNvPr id="250" name="Shape 11"/>
          <p:cNvSpPr/>
          <p:nvPr/>
        </p:nvSpPr>
        <p:spPr>
          <a:xfrm>
            <a:off x="2057400" y="1051560"/>
            <a:ext cx="2121120" cy="959760"/>
          </a:xfrm>
          <a:prstGeom prst="rect">
            <a:avLst/>
          </a:prstGeom>
          <a:solidFill>
            <a:srgbClr val="0F204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1" name="Shape 12"/>
          <p:cNvSpPr/>
          <p:nvPr/>
        </p:nvSpPr>
        <p:spPr>
          <a:xfrm>
            <a:off x="2057400" y="1051560"/>
            <a:ext cx="2121120" cy="45360"/>
          </a:xfrm>
          <a:prstGeom prst="rect">
            <a:avLst/>
          </a:prstGeom>
          <a:solidFill>
            <a:srgbClr val="0070F3">
              <a:alpha val="70000"/>
            </a:srgbClr>
          </a:solidFill>
          <a:ln w="12700">
            <a:solidFill>
              <a:srgbClr val="0070F3">
                <a:alpha val="70000"/>
              </a:srgbClr>
            </a:solidFill>
            <a:round/>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
        <p:nvSpPr>
          <p:cNvPr id="252" name="Text 13"/>
          <p:cNvSpPr/>
          <p:nvPr/>
        </p:nvSpPr>
        <p:spPr>
          <a:xfrm>
            <a:off x="2167200" y="1161360"/>
            <a:ext cx="1901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E8EFF8"/>
                </a:solidFill>
                <a:effectLst/>
                <a:uFillTx/>
                <a:latin typeface="Calibri"/>
                <a:ea typeface="Calibri"/>
              </a:rPr>
              <a:t>AI IDE</a:t>
            </a:r>
            <a:endParaRPr lang="en-US"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E8EFF8"/>
                </a:solidFill>
                <a:effectLst/>
                <a:uFillTx/>
                <a:latin typeface="Calibri"/>
                <a:ea typeface="Calibri"/>
              </a:rPr>
              <a:t>(Cursor / Windsurf)</a:t>
            </a:r>
            <a:endParaRPr lang="en-US" sz="1000" b="0" u="none" strike="noStrike">
              <a:solidFill>
                <a:srgbClr val="FFFFFF"/>
              </a:solidFill>
              <a:effectLst/>
              <a:uFillTx/>
              <a:latin typeface="Arial"/>
            </a:endParaRPr>
          </a:p>
        </p:txBody>
      </p:sp>
      <p:sp>
        <p:nvSpPr>
          <p:cNvPr id="253" name="Shape 14"/>
          <p:cNvSpPr/>
          <p:nvPr/>
        </p:nvSpPr>
        <p:spPr>
          <a:xfrm>
            <a:off x="3099960" y="2011680"/>
            <a:ext cx="27000" cy="25560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4" name="Text 15"/>
          <p:cNvSpPr/>
          <p:nvPr/>
        </p:nvSpPr>
        <p:spPr>
          <a:xfrm>
            <a:off x="3026520" y="2203560"/>
            <a:ext cx="1641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a:t>
            </a:r>
            <a:endParaRPr lang="en-US" sz="800" b="0" u="none" strike="noStrike">
              <a:solidFill>
                <a:srgbClr val="FFFFFF"/>
              </a:solidFill>
              <a:effectLst/>
              <a:uFillTx/>
              <a:latin typeface="Arial"/>
            </a:endParaRPr>
          </a:p>
        </p:txBody>
      </p:sp>
      <p:sp>
        <p:nvSpPr>
          <p:cNvPr id="255" name="Shape 16"/>
          <p:cNvSpPr/>
          <p:nvPr/>
        </p:nvSpPr>
        <p:spPr>
          <a:xfrm>
            <a:off x="4361760" y="1051560"/>
            <a:ext cx="2121120" cy="9597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6" name="Shape 17"/>
          <p:cNvSpPr/>
          <p:nvPr/>
        </p:nvSpPr>
        <p:spPr>
          <a:xfrm>
            <a:off x="4361760" y="1051560"/>
            <a:ext cx="2121120" cy="45360"/>
          </a:xfrm>
          <a:prstGeom prst="rect">
            <a:avLst/>
          </a:prstGeom>
          <a:solidFill>
            <a:srgbClr val="0070F3">
              <a:alpha val="70000"/>
            </a:srgbClr>
          </a:solidFill>
          <a:ln w="12700">
            <a:solidFill>
              <a:srgbClr val="0070F3">
                <a:alpha val="70000"/>
              </a:srgbClr>
            </a:solidFill>
            <a:round/>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
        <p:nvSpPr>
          <p:cNvPr id="257" name="Text 18"/>
          <p:cNvSpPr/>
          <p:nvPr/>
        </p:nvSpPr>
        <p:spPr>
          <a:xfrm>
            <a:off x="4471560" y="1161360"/>
            <a:ext cx="1901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E8EFF8"/>
                </a:solidFill>
                <a:effectLst/>
                <a:uFillTx/>
                <a:latin typeface="Calibri"/>
                <a:ea typeface="Calibri"/>
              </a:rPr>
              <a:t>MCP Host</a:t>
            </a:r>
            <a:endParaRPr lang="en-US"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E8EFF8"/>
                </a:solidFill>
                <a:effectLst/>
                <a:uFillTx/>
                <a:latin typeface="Calibri"/>
                <a:ea typeface="Calibri"/>
              </a:rPr>
              <a:t>(session broker)</a:t>
            </a:r>
            <a:endParaRPr lang="en-US" sz="1000" b="0" u="none" strike="noStrike">
              <a:solidFill>
                <a:srgbClr val="FFFFFF"/>
              </a:solidFill>
              <a:effectLst/>
              <a:uFillTx/>
              <a:latin typeface="Arial"/>
            </a:endParaRPr>
          </a:p>
        </p:txBody>
      </p:sp>
      <p:sp>
        <p:nvSpPr>
          <p:cNvPr id="258" name="Shape 19"/>
          <p:cNvSpPr/>
          <p:nvPr/>
        </p:nvSpPr>
        <p:spPr>
          <a:xfrm>
            <a:off x="5403960" y="2011680"/>
            <a:ext cx="27000" cy="25560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9" name="Text 20"/>
          <p:cNvSpPr/>
          <p:nvPr/>
        </p:nvSpPr>
        <p:spPr>
          <a:xfrm>
            <a:off x="5330880" y="2203560"/>
            <a:ext cx="1641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a:t>
            </a:r>
            <a:endParaRPr lang="en-US" sz="800" b="0" u="none" strike="noStrike">
              <a:solidFill>
                <a:srgbClr val="FFFFFF"/>
              </a:solidFill>
              <a:effectLst/>
              <a:uFillTx/>
              <a:latin typeface="Arial"/>
            </a:endParaRPr>
          </a:p>
        </p:txBody>
      </p:sp>
      <p:sp>
        <p:nvSpPr>
          <p:cNvPr id="260" name="Shape 21"/>
          <p:cNvSpPr/>
          <p:nvPr/>
        </p:nvSpPr>
        <p:spPr>
          <a:xfrm>
            <a:off x="6666120" y="1051560"/>
            <a:ext cx="2121120" cy="9597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1" name="Shape 22"/>
          <p:cNvSpPr/>
          <p:nvPr/>
        </p:nvSpPr>
        <p:spPr>
          <a:xfrm>
            <a:off x="6666120" y="1051560"/>
            <a:ext cx="2121120" cy="45360"/>
          </a:xfrm>
          <a:prstGeom prst="rect">
            <a:avLst/>
          </a:prstGeom>
          <a:solidFill>
            <a:srgbClr val="0070F3">
              <a:alpha val="70000"/>
            </a:srgbClr>
          </a:solidFill>
          <a:ln w="12700">
            <a:solidFill>
              <a:srgbClr val="0070F3">
                <a:alpha val="70000"/>
              </a:srgbClr>
            </a:solidFill>
            <a:round/>
          </a:ln>
        </p:spPr>
        <p:style>
          <a:lnRef idx="0"/>
          <a:fillRef idx="0"/>
          <a:effectRef idx="0"/>
          <a:fontRef idx="minor"/>
        </p:style>
        <p:txBody>
          <a:bodyPr lIns="90000" tIns="720" rIns="90000" bIns="720" anchor="t">
            <a:noAutofit/>
          </a:bodyPr>
          <a:p>
            <a:endParaRPr lang="en-US" sz="1800" b="0" u="none" strike="noStrike">
              <a:solidFill>
                <a:srgbClr val="FFFFFF"/>
              </a:solidFill>
              <a:effectLst/>
              <a:uFillTx/>
              <a:latin typeface="Arial"/>
            </a:endParaRPr>
          </a:p>
        </p:txBody>
      </p:sp>
      <p:sp>
        <p:nvSpPr>
          <p:cNvPr id="262" name="Text 23"/>
          <p:cNvSpPr/>
          <p:nvPr/>
        </p:nvSpPr>
        <p:spPr>
          <a:xfrm>
            <a:off x="6775560" y="1161360"/>
            <a:ext cx="1901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E8EFF8"/>
                </a:solidFill>
                <a:effectLst/>
                <a:uFillTx/>
                <a:latin typeface="Calibri"/>
                <a:ea typeface="Calibri"/>
              </a:rPr>
              <a:t>MCP Clients</a:t>
            </a:r>
            <a:endParaRPr lang="en-US"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E8EFF8"/>
                </a:solidFill>
                <a:effectLst/>
                <a:uFillTx/>
                <a:latin typeface="Calibri"/>
                <a:ea typeface="Calibri"/>
              </a:rPr>
              <a:t>(A, B, C)</a:t>
            </a:r>
            <a:endParaRPr lang="en-US" sz="1000" b="0" u="none" strike="noStrike">
              <a:solidFill>
                <a:srgbClr val="FFFFFF"/>
              </a:solidFill>
              <a:effectLst/>
              <a:uFillTx/>
              <a:latin typeface="Arial"/>
            </a:endParaRPr>
          </a:p>
        </p:txBody>
      </p:sp>
      <p:sp>
        <p:nvSpPr>
          <p:cNvPr id="263" name="Shape 24"/>
          <p:cNvSpPr/>
          <p:nvPr/>
        </p:nvSpPr>
        <p:spPr>
          <a:xfrm>
            <a:off x="7708320" y="2011680"/>
            <a:ext cx="27000" cy="25560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4" name="Text 25"/>
          <p:cNvSpPr/>
          <p:nvPr/>
        </p:nvSpPr>
        <p:spPr>
          <a:xfrm>
            <a:off x="7635240" y="2203560"/>
            <a:ext cx="1641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a:t>
            </a:r>
            <a:endParaRPr lang="en-US" sz="800" b="0" u="none" strike="noStrike">
              <a:solidFill>
                <a:srgbClr val="FFFFFF"/>
              </a:solidFill>
              <a:effectLst/>
              <a:uFillTx/>
              <a:latin typeface="Arial"/>
            </a:endParaRPr>
          </a:p>
        </p:txBody>
      </p:sp>
      <p:sp>
        <p:nvSpPr>
          <p:cNvPr id="265" name="Text 26"/>
          <p:cNvSpPr/>
          <p:nvPr/>
        </p:nvSpPr>
        <p:spPr>
          <a:xfrm>
            <a:off x="274320" y="2176200"/>
            <a:ext cx="1554120" cy="95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pc="150" strike="noStrike">
                <a:solidFill>
                  <a:srgbClr val="00C8C8"/>
                </a:solidFill>
                <a:effectLst/>
                <a:uFillTx/>
                <a:latin typeface="Calibri"/>
                <a:ea typeface="Calibri"/>
              </a:rPr>
              <a:t>MCP SERVERS</a:t>
            </a:r>
            <a:endParaRPr lang="en-US" sz="850" b="0" u="none" strike="noStrike">
              <a:solidFill>
                <a:srgbClr val="FFFFFF"/>
              </a:solidFill>
              <a:effectLst/>
              <a:uFillTx/>
              <a:latin typeface="Arial"/>
            </a:endParaRPr>
          </a:p>
        </p:txBody>
      </p:sp>
      <p:sp>
        <p:nvSpPr>
          <p:cNvPr id="266" name="Shape 27"/>
          <p:cNvSpPr/>
          <p:nvPr/>
        </p:nvSpPr>
        <p:spPr>
          <a:xfrm>
            <a:off x="274320" y="2176200"/>
            <a:ext cx="1554120" cy="9597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7" name="Shape 28"/>
          <p:cNvSpPr/>
          <p:nvPr/>
        </p:nvSpPr>
        <p:spPr>
          <a:xfrm>
            <a:off x="274320" y="2176200"/>
            <a:ext cx="1554120" cy="45360"/>
          </a:xfrm>
          <a:prstGeom prst="rect">
            <a:avLst/>
          </a:prstGeom>
          <a:solidFill>
            <a:srgbClr val="00C8C8"/>
          </a:solidFill>
          <a:ln w="12700">
            <a:solidFill>
              <a:srgbClr val="00C8C8"/>
            </a:solidFill>
            <a:round/>
          </a:ln>
        </p:spPr>
        <p:style>
          <a:lnRef idx="0"/>
          <a:fillRef idx="0"/>
          <a:effectRef idx="0"/>
          <a:fontRef idx="minor"/>
        </p:style>
        <p:txBody>
          <a:bodyPr lIns="90000" tIns="720" rIns="90000" bIns="720" anchor="t">
            <a:noAutofit/>
          </a:bodyPr>
          <a:p>
            <a:endParaRPr lang="en-US" sz="1800" b="0" u="none" strike="noStrike">
              <a:solidFill>
                <a:srgbClr val="000000"/>
              </a:solidFill>
              <a:effectLst/>
              <a:uFillTx/>
              <a:latin typeface="Arial"/>
            </a:endParaRPr>
          </a:p>
        </p:txBody>
      </p:sp>
      <p:sp>
        <p:nvSpPr>
          <p:cNvPr id="268" name="Text 29"/>
          <p:cNvSpPr/>
          <p:nvPr/>
        </p:nvSpPr>
        <p:spPr>
          <a:xfrm>
            <a:off x="292680" y="2496240"/>
            <a:ext cx="15174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pc="99" strike="noStrike">
                <a:solidFill>
                  <a:srgbClr val="00C8C8"/>
                </a:solidFill>
                <a:effectLst/>
                <a:uFillTx/>
                <a:latin typeface="Calibri"/>
                <a:ea typeface="Calibri"/>
              </a:rPr>
              <a:t>MCP SERVERS</a:t>
            </a:r>
            <a:endParaRPr lang="en-US" sz="800" b="0" u="none" strike="noStrike">
              <a:solidFill>
                <a:srgbClr val="FFFFFF"/>
              </a:solidFill>
              <a:effectLst/>
              <a:uFillTx/>
              <a:latin typeface="Arial"/>
            </a:endParaRPr>
          </a:p>
        </p:txBody>
      </p:sp>
      <p:sp>
        <p:nvSpPr>
          <p:cNvPr id="269" name="Shape 30"/>
          <p:cNvSpPr/>
          <p:nvPr/>
        </p:nvSpPr>
        <p:spPr>
          <a:xfrm>
            <a:off x="2057400" y="2176200"/>
            <a:ext cx="2121120" cy="959760"/>
          </a:xfrm>
          <a:prstGeom prst="rect">
            <a:avLst/>
          </a:prstGeom>
          <a:solidFill>
            <a:srgbClr val="0F204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0" name="Shape 31"/>
          <p:cNvSpPr/>
          <p:nvPr/>
        </p:nvSpPr>
        <p:spPr>
          <a:xfrm>
            <a:off x="2057400" y="2176200"/>
            <a:ext cx="2121120" cy="45360"/>
          </a:xfrm>
          <a:prstGeom prst="rect">
            <a:avLst/>
          </a:prstGeom>
          <a:solidFill>
            <a:srgbClr val="00C8C8">
              <a:alpha val="70000"/>
            </a:srgbClr>
          </a:solidFill>
          <a:ln w="12700">
            <a:solidFill>
              <a:srgbClr val="00C8C8">
                <a:alpha val="70000"/>
              </a:srgbClr>
            </a:solidFill>
            <a:round/>
          </a:ln>
        </p:spPr>
        <p:style>
          <a:lnRef idx="0"/>
          <a:fillRef idx="0"/>
          <a:effectRef idx="0"/>
          <a:fontRef idx="minor"/>
        </p:style>
        <p:txBody>
          <a:bodyPr lIns="90000" tIns="720" rIns="90000" bIns="720" anchor="t">
            <a:noAutofit/>
          </a:bodyPr>
          <a:p>
            <a:endParaRPr lang="en-US" sz="1800" b="0" u="none" strike="noStrike">
              <a:solidFill>
                <a:srgbClr val="000000"/>
              </a:solidFill>
              <a:effectLst/>
              <a:uFillTx/>
              <a:latin typeface="Arial"/>
            </a:endParaRPr>
          </a:p>
        </p:txBody>
      </p:sp>
      <p:sp>
        <p:nvSpPr>
          <p:cNvPr id="271" name="Text 32"/>
          <p:cNvSpPr/>
          <p:nvPr/>
        </p:nvSpPr>
        <p:spPr>
          <a:xfrm>
            <a:off x="2167200" y="2286000"/>
            <a:ext cx="1901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E8EFF8"/>
                </a:solidFill>
                <a:effectLst/>
                <a:uFillTx/>
                <a:latin typeface="Calibri"/>
                <a:ea typeface="Calibri"/>
              </a:rPr>
              <a:t>CloudNation</a:t>
            </a:r>
            <a:endParaRPr lang="en-US"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E8EFF8"/>
                </a:solidFill>
                <a:effectLst/>
                <a:uFillTx/>
                <a:latin typeface="Calibri"/>
                <a:ea typeface="Calibri"/>
              </a:rPr>
              <a:t>WAM MCP Server</a:t>
            </a:r>
            <a:endParaRPr lang="en-US" sz="1000" b="0" u="none" strike="noStrike">
              <a:solidFill>
                <a:srgbClr val="FFFFFF"/>
              </a:solidFill>
              <a:effectLst/>
              <a:uFillTx/>
              <a:latin typeface="Arial"/>
            </a:endParaRPr>
          </a:p>
        </p:txBody>
      </p:sp>
      <p:sp>
        <p:nvSpPr>
          <p:cNvPr id="272" name="Shape 33"/>
          <p:cNvSpPr/>
          <p:nvPr/>
        </p:nvSpPr>
        <p:spPr>
          <a:xfrm>
            <a:off x="3099960" y="3136320"/>
            <a:ext cx="27000" cy="25560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3" name="Text 34"/>
          <p:cNvSpPr/>
          <p:nvPr/>
        </p:nvSpPr>
        <p:spPr>
          <a:xfrm>
            <a:off x="3026520" y="3328560"/>
            <a:ext cx="1641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a:t>
            </a:r>
            <a:endParaRPr lang="en-US" sz="800" b="0" u="none" strike="noStrike">
              <a:solidFill>
                <a:srgbClr val="FFFFFF"/>
              </a:solidFill>
              <a:effectLst/>
              <a:uFillTx/>
              <a:latin typeface="Arial"/>
            </a:endParaRPr>
          </a:p>
        </p:txBody>
      </p:sp>
      <p:sp>
        <p:nvSpPr>
          <p:cNvPr id="274" name="Shape 35"/>
          <p:cNvSpPr/>
          <p:nvPr/>
        </p:nvSpPr>
        <p:spPr>
          <a:xfrm>
            <a:off x="4361760" y="2176200"/>
            <a:ext cx="2121120" cy="9597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5" name="Shape 36"/>
          <p:cNvSpPr/>
          <p:nvPr/>
        </p:nvSpPr>
        <p:spPr>
          <a:xfrm>
            <a:off x="4361760" y="2176200"/>
            <a:ext cx="2121120" cy="45360"/>
          </a:xfrm>
          <a:prstGeom prst="rect">
            <a:avLst/>
          </a:prstGeom>
          <a:solidFill>
            <a:srgbClr val="00C8C8">
              <a:alpha val="70000"/>
            </a:srgbClr>
          </a:solidFill>
          <a:ln w="12700">
            <a:solidFill>
              <a:srgbClr val="00C8C8">
                <a:alpha val="70000"/>
              </a:srgbClr>
            </a:solidFill>
            <a:round/>
          </a:ln>
        </p:spPr>
        <p:style>
          <a:lnRef idx="0"/>
          <a:fillRef idx="0"/>
          <a:effectRef idx="0"/>
          <a:fontRef idx="minor"/>
        </p:style>
        <p:txBody>
          <a:bodyPr lIns="90000" tIns="720" rIns="90000" bIns="720" anchor="t">
            <a:noAutofit/>
          </a:bodyPr>
          <a:p>
            <a:endParaRPr lang="en-US" sz="1800" b="0" u="none" strike="noStrike">
              <a:solidFill>
                <a:srgbClr val="000000"/>
              </a:solidFill>
              <a:effectLst/>
              <a:uFillTx/>
              <a:latin typeface="Arial"/>
            </a:endParaRPr>
          </a:p>
        </p:txBody>
      </p:sp>
      <p:sp>
        <p:nvSpPr>
          <p:cNvPr id="276" name="Text 37"/>
          <p:cNvSpPr/>
          <p:nvPr/>
        </p:nvSpPr>
        <p:spPr>
          <a:xfrm>
            <a:off x="4471560" y="2286000"/>
            <a:ext cx="1901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E8EFF8"/>
                </a:solidFill>
                <a:effectLst/>
                <a:uFillTx/>
                <a:latin typeface="Calibri"/>
                <a:ea typeface="Calibri"/>
              </a:rPr>
              <a:t>Git MCP Server</a:t>
            </a:r>
            <a:endParaRPr lang="en-US"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E8EFF8"/>
                </a:solidFill>
                <a:effectLst/>
                <a:uFillTx/>
                <a:latin typeface="Calibri"/>
                <a:ea typeface="Calibri"/>
              </a:rPr>
              <a:t>(scoped GitHub App)</a:t>
            </a:r>
            <a:endParaRPr lang="en-US" sz="1000" b="0" u="none" strike="noStrike">
              <a:solidFill>
                <a:srgbClr val="FFFFFF"/>
              </a:solidFill>
              <a:effectLst/>
              <a:uFillTx/>
              <a:latin typeface="Arial"/>
            </a:endParaRPr>
          </a:p>
        </p:txBody>
      </p:sp>
      <p:sp>
        <p:nvSpPr>
          <p:cNvPr id="277" name="Shape 38"/>
          <p:cNvSpPr/>
          <p:nvPr/>
        </p:nvSpPr>
        <p:spPr>
          <a:xfrm>
            <a:off x="5403960" y="3136320"/>
            <a:ext cx="27000" cy="25560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8" name="Text 39"/>
          <p:cNvSpPr/>
          <p:nvPr/>
        </p:nvSpPr>
        <p:spPr>
          <a:xfrm>
            <a:off x="5330880" y="3328560"/>
            <a:ext cx="1641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a:t>
            </a:r>
            <a:endParaRPr lang="en-US" sz="800" b="0" u="none" strike="noStrike">
              <a:solidFill>
                <a:srgbClr val="FFFFFF"/>
              </a:solidFill>
              <a:effectLst/>
              <a:uFillTx/>
              <a:latin typeface="Arial"/>
            </a:endParaRPr>
          </a:p>
        </p:txBody>
      </p:sp>
      <p:sp>
        <p:nvSpPr>
          <p:cNvPr id="279" name="Shape 40"/>
          <p:cNvSpPr/>
          <p:nvPr/>
        </p:nvSpPr>
        <p:spPr>
          <a:xfrm>
            <a:off x="6666120" y="2176200"/>
            <a:ext cx="2121120" cy="9597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0" name="Shape 41"/>
          <p:cNvSpPr/>
          <p:nvPr/>
        </p:nvSpPr>
        <p:spPr>
          <a:xfrm>
            <a:off x="6666120" y="2176200"/>
            <a:ext cx="2121120" cy="45360"/>
          </a:xfrm>
          <a:prstGeom prst="rect">
            <a:avLst/>
          </a:prstGeom>
          <a:solidFill>
            <a:srgbClr val="00C8C8">
              <a:alpha val="70000"/>
            </a:srgbClr>
          </a:solidFill>
          <a:ln w="12700">
            <a:solidFill>
              <a:srgbClr val="00C8C8">
                <a:alpha val="70000"/>
              </a:srgbClr>
            </a:solidFill>
            <a:round/>
          </a:ln>
        </p:spPr>
        <p:style>
          <a:lnRef idx="0"/>
          <a:fillRef idx="0"/>
          <a:effectRef idx="0"/>
          <a:fontRef idx="minor"/>
        </p:style>
        <p:txBody>
          <a:bodyPr lIns="90000" tIns="720" rIns="90000" bIns="720" anchor="t">
            <a:noAutofit/>
          </a:bodyPr>
          <a:p>
            <a:endParaRPr lang="en-US" sz="1800" b="0" u="none" strike="noStrike">
              <a:solidFill>
                <a:srgbClr val="000000"/>
              </a:solidFill>
              <a:effectLst/>
              <a:uFillTx/>
              <a:latin typeface="Arial"/>
            </a:endParaRPr>
          </a:p>
        </p:txBody>
      </p:sp>
      <p:sp>
        <p:nvSpPr>
          <p:cNvPr id="281" name="Text 42"/>
          <p:cNvSpPr/>
          <p:nvPr/>
        </p:nvSpPr>
        <p:spPr>
          <a:xfrm>
            <a:off x="6775560" y="2286000"/>
            <a:ext cx="1901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E8EFF8"/>
                </a:solidFill>
                <a:effectLst/>
                <a:uFillTx/>
                <a:latin typeface="Calibri"/>
                <a:ea typeface="Calibri"/>
              </a:rPr>
              <a:t>CI/CD MCP Server</a:t>
            </a:r>
            <a:endParaRPr lang="en-US"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E8EFF8"/>
                </a:solidFill>
                <a:effectLst/>
                <a:uFillTx/>
                <a:latin typeface="Calibri"/>
                <a:ea typeface="Calibri"/>
              </a:rPr>
              <a:t>(read-only)</a:t>
            </a:r>
            <a:endParaRPr lang="en-US" sz="1000" b="0" u="none" strike="noStrike">
              <a:solidFill>
                <a:srgbClr val="FFFFFF"/>
              </a:solidFill>
              <a:effectLst/>
              <a:uFillTx/>
              <a:latin typeface="Arial"/>
            </a:endParaRPr>
          </a:p>
        </p:txBody>
      </p:sp>
      <p:sp>
        <p:nvSpPr>
          <p:cNvPr id="282" name="Shape 43"/>
          <p:cNvSpPr/>
          <p:nvPr/>
        </p:nvSpPr>
        <p:spPr>
          <a:xfrm>
            <a:off x="7708320" y="3136320"/>
            <a:ext cx="27000" cy="255600"/>
          </a:xfrm>
          <a:prstGeom prst="rect">
            <a:avLst/>
          </a:prstGeom>
          <a:solidFill>
            <a:srgbClr val="5A7A9A"/>
          </a:solidFill>
          <a:ln w="12700">
            <a:solidFill>
              <a:srgbClr val="5A7A9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3" name="Text 44"/>
          <p:cNvSpPr/>
          <p:nvPr/>
        </p:nvSpPr>
        <p:spPr>
          <a:xfrm>
            <a:off x="7635240" y="3328560"/>
            <a:ext cx="1641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a:t>
            </a:r>
            <a:endParaRPr lang="en-US" sz="800" b="0" u="none" strike="noStrike">
              <a:solidFill>
                <a:srgbClr val="FFFFFF"/>
              </a:solidFill>
              <a:effectLst/>
              <a:uFillTx/>
              <a:latin typeface="Arial"/>
            </a:endParaRPr>
          </a:p>
        </p:txBody>
      </p:sp>
      <p:sp>
        <p:nvSpPr>
          <p:cNvPr id="284" name="Text 45"/>
          <p:cNvSpPr/>
          <p:nvPr/>
        </p:nvSpPr>
        <p:spPr>
          <a:xfrm>
            <a:off x="274320" y="3291840"/>
            <a:ext cx="1554120" cy="959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50" b="1" u="none" spc="150" strike="noStrike">
                <a:solidFill>
                  <a:srgbClr val="00D68F"/>
                </a:solidFill>
                <a:effectLst/>
                <a:uFillTx/>
                <a:latin typeface="Calibri"/>
                <a:ea typeface="Calibri"/>
              </a:rPr>
              <a:t>BACKEND SYSTEMS</a:t>
            </a:r>
            <a:endParaRPr lang="en-US" sz="850" b="0" u="none" strike="noStrike">
              <a:solidFill>
                <a:srgbClr val="FFFFFF"/>
              </a:solidFill>
              <a:effectLst/>
              <a:uFillTx/>
              <a:latin typeface="Arial"/>
            </a:endParaRPr>
          </a:p>
        </p:txBody>
      </p:sp>
      <p:sp>
        <p:nvSpPr>
          <p:cNvPr id="285" name="Shape 46"/>
          <p:cNvSpPr/>
          <p:nvPr/>
        </p:nvSpPr>
        <p:spPr>
          <a:xfrm>
            <a:off x="274320" y="3291840"/>
            <a:ext cx="1554120" cy="9597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6" name="Shape 47"/>
          <p:cNvSpPr/>
          <p:nvPr/>
        </p:nvSpPr>
        <p:spPr>
          <a:xfrm>
            <a:off x="274320" y="3291840"/>
            <a:ext cx="1554120" cy="45360"/>
          </a:xfrm>
          <a:prstGeom prst="rect">
            <a:avLst/>
          </a:prstGeom>
          <a:solidFill>
            <a:srgbClr val="00D68F"/>
          </a:solidFill>
          <a:ln w="12700">
            <a:solidFill>
              <a:srgbClr val="00D68F"/>
            </a:solidFill>
            <a:round/>
          </a:ln>
        </p:spPr>
        <p:style>
          <a:lnRef idx="0"/>
          <a:fillRef idx="0"/>
          <a:effectRef idx="0"/>
          <a:fontRef idx="minor"/>
        </p:style>
        <p:txBody>
          <a:bodyPr lIns="90000" tIns="720" rIns="90000" bIns="720" anchor="t">
            <a:noAutofit/>
          </a:bodyPr>
          <a:p>
            <a:endParaRPr lang="en-US" sz="1800" b="0" u="none" strike="noStrike">
              <a:solidFill>
                <a:srgbClr val="000000"/>
              </a:solidFill>
              <a:effectLst/>
              <a:uFillTx/>
              <a:latin typeface="Arial"/>
            </a:endParaRPr>
          </a:p>
        </p:txBody>
      </p:sp>
      <p:sp>
        <p:nvSpPr>
          <p:cNvPr id="287" name="Text 48"/>
          <p:cNvSpPr/>
          <p:nvPr/>
        </p:nvSpPr>
        <p:spPr>
          <a:xfrm>
            <a:off x="292680" y="3611880"/>
            <a:ext cx="151740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1" u="none" spc="99" strike="noStrike">
                <a:solidFill>
                  <a:srgbClr val="00D68F"/>
                </a:solidFill>
                <a:effectLst/>
                <a:uFillTx/>
                <a:latin typeface="Calibri"/>
                <a:ea typeface="Calibri"/>
              </a:rPr>
              <a:t>BACKEND SYSTEMS</a:t>
            </a:r>
            <a:endParaRPr lang="en-US" sz="800" b="0" u="none" strike="noStrike">
              <a:solidFill>
                <a:srgbClr val="FFFFFF"/>
              </a:solidFill>
              <a:effectLst/>
              <a:uFillTx/>
              <a:latin typeface="Arial"/>
            </a:endParaRPr>
          </a:p>
        </p:txBody>
      </p:sp>
      <p:sp>
        <p:nvSpPr>
          <p:cNvPr id="288" name="Shape 49"/>
          <p:cNvSpPr/>
          <p:nvPr/>
        </p:nvSpPr>
        <p:spPr>
          <a:xfrm>
            <a:off x="2057400" y="3291840"/>
            <a:ext cx="2121120" cy="959760"/>
          </a:xfrm>
          <a:prstGeom prst="rect">
            <a:avLst/>
          </a:prstGeom>
          <a:solidFill>
            <a:srgbClr val="0F204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9" name="Shape 50"/>
          <p:cNvSpPr/>
          <p:nvPr/>
        </p:nvSpPr>
        <p:spPr>
          <a:xfrm>
            <a:off x="2057400" y="3291840"/>
            <a:ext cx="2121120" cy="45360"/>
          </a:xfrm>
          <a:prstGeom prst="rect">
            <a:avLst/>
          </a:prstGeom>
          <a:solidFill>
            <a:srgbClr val="00D68F">
              <a:alpha val="70000"/>
            </a:srgbClr>
          </a:solidFill>
          <a:ln w="12700">
            <a:solidFill>
              <a:srgbClr val="00D68F">
                <a:alpha val="70000"/>
              </a:srgbClr>
            </a:solidFill>
            <a:round/>
          </a:ln>
        </p:spPr>
        <p:style>
          <a:lnRef idx="0"/>
          <a:fillRef idx="0"/>
          <a:effectRef idx="0"/>
          <a:fontRef idx="minor"/>
        </p:style>
        <p:txBody>
          <a:bodyPr lIns="90000" tIns="720" rIns="90000" bIns="720" anchor="t">
            <a:noAutofit/>
          </a:bodyPr>
          <a:p>
            <a:endParaRPr lang="en-US" sz="1800" b="0" u="none" strike="noStrike">
              <a:solidFill>
                <a:srgbClr val="000000"/>
              </a:solidFill>
              <a:effectLst/>
              <a:uFillTx/>
              <a:latin typeface="Arial"/>
            </a:endParaRPr>
          </a:p>
        </p:txBody>
      </p:sp>
      <p:sp>
        <p:nvSpPr>
          <p:cNvPr id="290" name="Text 51"/>
          <p:cNvSpPr/>
          <p:nvPr/>
        </p:nvSpPr>
        <p:spPr>
          <a:xfrm>
            <a:off x="2167200" y="3401640"/>
            <a:ext cx="1901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E8EFF8"/>
                </a:solidFill>
                <a:effectLst/>
                <a:uFillTx/>
                <a:latin typeface="Calibri"/>
                <a:ea typeface="Calibri"/>
              </a:rPr>
              <a:t>RAG Engine</a:t>
            </a:r>
            <a:endParaRPr lang="en-US"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E8EFF8"/>
                </a:solidFill>
                <a:effectLst/>
                <a:uFillTx/>
                <a:latin typeface="Calibri"/>
                <a:ea typeface="Calibri"/>
              </a:rPr>
              <a:t>(Qdrant + embeddings)</a:t>
            </a:r>
            <a:endParaRPr lang="en-US" sz="1000" b="0" u="none" strike="noStrike">
              <a:solidFill>
                <a:srgbClr val="FFFFFF"/>
              </a:solidFill>
              <a:effectLst/>
              <a:uFillTx/>
              <a:latin typeface="Arial"/>
            </a:endParaRPr>
          </a:p>
        </p:txBody>
      </p:sp>
      <p:sp>
        <p:nvSpPr>
          <p:cNvPr id="291" name="Shape 52"/>
          <p:cNvSpPr/>
          <p:nvPr/>
        </p:nvSpPr>
        <p:spPr>
          <a:xfrm>
            <a:off x="4361760" y="3291840"/>
            <a:ext cx="2121120" cy="9597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2" name="Shape 53"/>
          <p:cNvSpPr/>
          <p:nvPr/>
        </p:nvSpPr>
        <p:spPr>
          <a:xfrm>
            <a:off x="4361760" y="3291840"/>
            <a:ext cx="2121120" cy="45360"/>
          </a:xfrm>
          <a:prstGeom prst="rect">
            <a:avLst/>
          </a:prstGeom>
          <a:solidFill>
            <a:srgbClr val="00D68F">
              <a:alpha val="70000"/>
            </a:srgbClr>
          </a:solidFill>
          <a:ln w="12700">
            <a:solidFill>
              <a:srgbClr val="00D68F">
                <a:alpha val="70000"/>
              </a:srgbClr>
            </a:solidFill>
            <a:round/>
          </a:ln>
        </p:spPr>
        <p:style>
          <a:lnRef idx="0"/>
          <a:fillRef idx="0"/>
          <a:effectRef idx="0"/>
          <a:fontRef idx="minor"/>
        </p:style>
        <p:txBody>
          <a:bodyPr lIns="90000" tIns="720" rIns="90000" bIns="720" anchor="t">
            <a:noAutofit/>
          </a:bodyPr>
          <a:p>
            <a:endParaRPr lang="en-US" sz="1800" b="0" u="none" strike="noStrike">
              <a:solidFill>
                <a:srgbClr val="000000"/>
              </a:solidFill>
              <a:effectLst/>
              <a:uFillTx/>
              <a:latin typeface="Arial"/>
            </a:endParaRPr>
          </a:p>
        </p:txBody>
      </p:sp>
      <p:sp>
        <p:nvSpPr>
          <p:cNvPr id="293" name="Text 54"/>
          <p:cNvSpPr/>
          <p:nvPr/>
        </p:nvSpPr>
        <p:spPr>
          <a:xfrm>
            <a:off x="4471560" y="3401640"/>
            <a:ext cx="1901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E8EFF8"/>
                </a:solidFill>
                <a:effectLst/>
                <a:uFillTx/>
                <a:latin typeface="Calibri"/>
                <a:ea typeface="Calibri"/>
              </a:rPr>
              <a:t>Private Git Repos</a:t>
            </a:r>
            <a:endParaRPr lang="en-US"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E8EFF8"/>
                </a:solidFill>
                <a:effectLst/>
                <a:uFillTx/>
                <a:latin typeface="Calibri"/>
                <a:ea typeface="Calibri"/>
              </a:rPr>
              <a:t>(WAM modules)</a:t>
            </a:r>
            <a:endParaRPr lang="en-US" sz="1000" b="0" u="none" strike="noStrike">
              <a:solidFill>
                <a:srgbClr val="FFFFFF"/>
              </a:solidFill>
              <a:effectLst/>
              <a:uFillTx/>
              <a:latin typeface="Arial"/>
            </a:endParaRPr>
          </a:p>
        </p:txBody>
      </p:sp>
      <p:sp>
        <p:nvSpPr>
          <p:cNvPr id="294" name="Shape 55"/>
          <p:cNvSpPr/>
          <p:nvPr/>
        </p:nvSpPr>
        <p:spPr>
          <a:xfrm>
            <a:off x="6666120" y="3291840"/>
            <a:ext cx="2121120" cy="95976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5" name="Shape 56"/>
          <p:cNvSpPr/>
          <p:nvPr/>
        </p:nvSpPr>
        <p:spPr>
          <a:xfrm>
            <a:off x="6666120" y="3291840"/>
            <a:ext cx="2121120" cy="45360"/>
          </a:xfrm>
          <a:prstGeom prst="rect">
            <a:avLst/>
          </a:prstGeom>
          <a:solidFill>
            <a:srgbClr val="00D68F">
              <a:alpha val="70000"/>
            </a:srgbClr>
          </a:solidFill>
          <a:ln w="12700">
            <a:solidFill>
              <a:srgbClr val="00D68F">
                <a:alpha val="70000"/>
              </a:srgbClr>
            </a:solidFill>
            <a:round/>
          </a:ln>
        </p:spPr>
        <p:style>
          <a:lnRef idx="0"/>
          <a:fillRef idx="0"/>
          <a:effectRef idx="0"/>
          <a:fontRef idx="minor"/>
        </p:style>
        <p:txBody>
          <a:bodyPr lIns="90000" tIns="720" rIns="90000" bIns="720" anchor="t">
            <a:noAutofit/>
          </a:bodyPr>
          <a:p>
            <a:endParaRPr lang="en-US" sz="1800" b="0" u="none" strike="noStrike">
              <a:solidFill>
                <a:srgbClr val="000000"/>
              </a:solidFill>
              <a:effectLst/>
              <a:uFillTx/>
              <a:latin typeface="Arial"/>
            </a:endParaRPr>
          </a:p>
        </p:txBody>
      </p:sp>
      <p:sp>
        <p:nvSpPr>
          <p:cNvPr id="296" name="Text 57"/>
          <p:cNvSpPr/>
          <p:nvPr/>
        </p:nvSpPr>
        <p:spPr>
          <a:xfrm>
            <a:off x="6775560" y="3401640"/>
            <a:ext cx="190152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E8EFF8"/>
                </a:solidFill>
                <a:effectLst/>
                <a:uFillTx/>
                <a:latin typeface="Calibri"/>
                <a:ea typeface="Calibri"/>
              </a:rPr>
              <a:t>CI/CD Pipeline</a:t>
            </a:r>
            <a:endParaRPr lang="en-US"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E8EFF8"/>
                </a:solidFill>
                <a:effectLst/>
                <a:uFillTx/>
                <a:latin typeface="Calibri"/>
                <a:ea typeface="Calibri"/>
              </a:rPr>
              <a:t>(plan → apply)</a:t>
            </a:r>
            <a:endParaRPr lang="en-US" sz="1000" b="0" u="none" strike="noStrike">
              <a:solidFill>
                <a:srgbClr val="FFFFFF"/>
              </a:solidFill>
              <a:effectLst/>
              <a:uFillTx/>
              <a:latin typeface="Arial"/>
            </a:endParaRPr>
          </a:p>
        </p:txBody>
      </p:sp>
      <p:sp>
        <p:nvSpPr>
          <p:cNvPr id="297" name="Shape 58"/>
          <p:cNvSpPr/>
          <p:nvPr/>
        </p:nvSpPr>
        <p:spPr>
          <a:xfrm>
            <a:off x="274320" y="4370760"/>
            <a:ext cx="8595000" cy="438480"/>
          </a:xfrm>
          <a:prstGeom prst="rect">
            <a:avLst/>
          </a:prstGeom>
          <a:solidFill>
            <a:srgbClr val="07103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8" name="Shape 59"/>
          <p:cNvSpPr/>
          <p:nvPr/>
        </p:nvSpPr>
        <p:spPr>
          <a:xfrm>
            <a:off x="274320" y="4370760"/>
            <a:ext cx="8595000" cy="36360"/>
          </a:xfrm>
          <a:prstGeom prst="rect">
            <a:avLst/>
          </a:prstGeom>
          <a:solidFill>
            <a:srgbClr val="0070F3"/>
          </a:solidFill>
          <a:ln w="12700">
            <a:solidFill>
              <a:srgbClr val="0070F3"/>
            </a:solidFill>
            <a:round/>
          </a:ln>
        </p:spPr>
        <p:style>
          <a:lnRef idx="0"/>
          <a:fillRef idx="0"/>
          <a:effectRef idx="0"/>
          <a:fontRef idx="minor"/>
        </p:style>
        <p:txBody>
          <a:bodyPr lIns="90000" tIns="-8280" rIns="90000" bIns="-8280" anchor="t">
            <a:noAutofit/>
          </a:bodyPr>
          <a:p>
            <a:endParaRPr lang="en-US" sz="1800" b="0" u="none" strike="noStrike">
              <a:solidFill>
                <a:srgbClr val="FFFFFF"/>
              </a:solidFill>
              <a:effectLst/>
              <a:uFillTx/>
              <a:latin typeface="Arial"/>
            </a:endParaRPr>
          </a:p>
        </p:txBody>
      </p:sp>
      <p:sp>
        <p:nvSpPr>
          <p:cNvPr id="299" name="Text 60"/>
          <p:cNvSpPr/>
          <p:nvPr/>
        </p:nvSpPr>
        <p:spPr>
          <a:xfrm>
            <a:off x="457200" y="4434840"/>
            <a:ext cx="8229240" cy="328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i="1" u="none" strike="noStrike">
                <a:solidFill>
                  <a:srgbClr val="38ACFF"/>
                </a:solidFill>
                <a:effectLst/>
                <a:uFillTx/>
                <a:latin typeface="Calibri"/>
                <a:ea typeface="Calibri"/>
              </a:rPr>
              <a:t>Protocol defines the contract  ·  Host enforces policy  ·  Server exposes capability  ·  AI generates  ·  Pipeline executes</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00"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301"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WAM: Well-Architected Compliance Encoded as Defaults</a:t>
            </a:r>
            <a:endParaRPr lang="en-US" sz="2600" b="0" u="none" strike="noStrike">
              <a:solidFill>
                <a:srgbClr val="FFFFFF"/>
              </a:solidFill>
              <a:effectLst/>
              <a:uFillTx/>
              <a:latin typeface="Arial"/>
            </a:endParaRPr>
          </a:p>
        </p:txBody>
      </p:sp>
      <p:sp>
        <p:nvSpPr>
          <p:cNvPr id="302"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Resource Modules (open-source) and Pattern Modules (proprietary) — the two-layer IaC standard</a:t>
            </a:r>
            <a:endParaRPr lang="en-US" sz="1200" b="0" u="none" strike="noStrike">
              <a:solidFill>
                <a:srgbClr val="FFFFFF"/>
              </a:solidFill>
              <a:effectLst/>
              <a:uFillTx/>
              <a:latin typeface="Arial"/>
            </a:endParaRPr>
          </a:p>
        </p:txBody>
      </p:sp>
      <p:sp>
        <p:nvSpPr>
          <p:cNvPr id="303"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4"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305"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10 / 12</a:t>
            </a:r>
            <a:endParaRPr lang="en-US" sz="800" b="0" u="none" strike="noStrike">
              <a:solidFill>
                <a:srgbClr val="FFFFFF"/>
              </a:solidFill>
              <a:effectLst/>
              <a:uFillTx/>
              <a:latin typeface="Arial"/>
            </a:endParaRPr>
          </a:p>
        </p:txBody>
      </p:sp>
      <p:sp>
        <p:nvSpPr>
          <p:cNvPr id="306"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307" name="Shape 7"/>
          <p:cNvSpPr/>
          <p:nvPr/>
        </p:nvSpPr>
        <p:spPr>
          <a:xfrm>
            <a:off x="274320" y="1024200"/>
            <a:ext cx="8595000" cy="159984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8" name="Shape 8"/>
          <p:cNvSpPr/>
          <p:nvPr/>
        </p:nvSpPr>
        <p:spPr>
          <a:xfrm>
            <a:off x="274320" y="1024200"/>
            <a:ext cx="8595000" cy="54360"/>
          </a:xfrm>
          <a:prstGeom prst="rect">
            <a:avLst/>
          </a:prstGeom>
          <a:solidFill>
            <a:srgbClr val="0070F3"/>
          </a:solidFill>
          <a:ln w="12700">
            <a:solidFill>
              <a:srgbClr val="0070F3"/>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graphicFrame>
        <p:nvGraphicFramePr>
          <p:cNvPr id="309" name="Table 0"/>
          <p:cNvGraphicFramePr/>
          <p:nvPr/>
        </p:nvGraphicFramePr>
        <p:xfrm>
          <a:off x="274320" y="1078920"/>
          <a:ext cx="8595000" cy="1222200"/>
        </p:xfrm>
        <a:graphic>
          <a:graphicData uri="http://schemas.openxmlformats.org/drawingml/2006/table">
            <a:tbl>
              <a:tblPr/>
              <a:tblGrid>
                <a:gridCol w="2011680"/>
                <a:gridCol w="3291840"/>
                <a:gridCol w="3291840"/>
              </a:tblGrid>
              <a:tr h="0">
                <a:tc>
                  <a:txBody>
                    <a:bodyPr anchor="t">
                      <a:noAutofit/>
                    </a:bodyPr>
                    <a:p>
                      <a:pPr defTabSz="914400">
                        <a:lnSpc>
                          <a:spcPct val="100000"/>
                        </a:lnSpc>
                        <a:tabLst>
                          <a:tab pos="0" algn="l"/>
                        </a:tabLst>
                      </a:pPr>
                      <a:r>
                        <a:rPr lang="en-US" sz="1000" b="1" u="none" strike="noStrike">
                          <a:solidFill>
                            <a:srgbClr val="0070F3"/>
                          </a:solidFill>
                          <a:effectLst/>
                          <a:uFillTx/>
                          <a:latin typeface="Calibri"/>
                          <a:ea typeface="Calibri"/>
                        </a:rPr>
                        <a:t>Dimension</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0F2040"/>
                    </a:solidFill>
                  </a:tcPr>
                </a:tc>
                <a:tc>
                  <a:txBody>
                    <a:bodyPr anchor="t">
                      <a:noAutofit/>
                    </a:bodyPr>
                    <a:p>
                      <a:pPr defTabSz="914400">
                        <a:lnSpc>
                          <a:spcPct val="100000"/>
                        </a:lnSpc>
                        <a:tabLst>
                          <a:tab pos="0" algn="l"/>
                        </a:tabLst>
                      </a:pPr>
                      <a:r>
                        <a:rPr lang="en-US" sz="1000" b="1" u="none" strike="noStrike">
                          <a:solidFill>
                            <a:srgbClr val="0070F3"/>
                          </a:solidFill>
                          <a:effectLst/>
                          <a:uFillTx/>
                          <a:latin typeface="Calibri"/>
                          <a:ea typeface="Calibri"/>
                        </a:rPr>
                        <a:t>Resource Module</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0F2040"/>
                    </a:solidFill>
                  </a:tcPr>
                </a:tc>
                <a:tc>
                  <a:txBody>
                    <a:bodyPr anchor="t">
                      <a:noAutofit/>
                    </a:bodyPr>
                    <a:p>
                      <a:pPr defTabSz="914400">
                        <a:lnSpc>
                          <a:spcPct val="100000"/>
                        </a:lnSpc>
                        <a:tabLst>
                          <a:tab pos="0" algn="l"/>
                        </a:tabLst>
                      </a:pPr>
                      <a:r>
                        <a:rPr lang="en-US" sz="1000" b="1" u="none" strike="noStrike">
                          <a:solidFill>
                            <a:srgbClr val="00C8C8"/>
                          </a:solidFill>
                          <a:effectLst/>
                          <a:uFillTx/>
                          <a:latin typeface="Calibri"/>
                          <a:ea typeface="Calibri"/>
                        </a:rPr>
                        <a:t>Pattern Module</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0F2040"/>
                    </a:solidFill>
                  </a:tcPr>
                </a:tc>
              </a:tr>
              <a:tr h="0">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Abstraction</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Single Azure resource (e.g. Key Vault, Storage)</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Multi-resource pattern (e.g. Secure Data Landing Zone)</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r>
              <a:tr h="0">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Audience</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Platform engineers — fine-grained control</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App teams — high-level intent only</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r>
              <a:tr h="0">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Availability</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Open-source on GitHub / Terraform Registry</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Private — CloudNation IP, MCP-mediated access only</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r>
              <a:tr h="0">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WAF Enforcement</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Secure defaults baked into variable schemas</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c>
                  <a:txBody>
                    <a:bodyPr anchor="t">
                      <a:noAutofit/>
                    </a:bodyPr>
                    <a:p>
                      <a:pPr defTabSz="914400">
                        <a:lnSpc>
                          <a:spcPct val="100000"/>
                        </a:lnSpc>
                        <a:tabLst>
                          <a:tab pos="0" algn="l"/>
                        </a:tabLst>
                      </a:pPr>
                      <a:r>
                        <a:rPr lang="en-US" sz="1000" b="0" u="none" strike="noStrike">
                          <a:solidFill>
                            <a:srgbClr val="E8EFF8"/>
                          </a:solidFill>
                          <a:effectLst/>
                          <a:uFillTx/>
                          <a:latin typeface="Calibri"/>
                          <a:ea typeface="Calibri"/>
                        </a:rPr>
                        <a:t>Orchestrates Resource Modules + adds org-level governance</a:t>
                      </a:r>
                      <a:endParaRPr lang="en-US" sz="1000" b="0" u="none" strike="noStrike">
                        <a:solidFill>
                          <a:srgbClr val="FFFFFF"/>
                        </a:solidFill>
                        <a:effectLst/>
                        <a:uFillTx/>
                        <a:latin typeface="Arial"/>
                      </a:endParaRPr>
                    </a:p>
                  </a:txBody>
                  <a:tcPr anchor="t" marL="91440" marR="91440" marT="45720" marB="45720">
                    <a:lnL w="6480">
                      <a:solidFill>
                        <a:srgbClr val="0F2040"/>
                      </a:solidFill>
                      <a:prstDash val="solid"/>
                    </a:lnL>
                    <a:lnR w="6480">
                      <a:solidFill>
                        <a:srgbClr val="0F2040"/>
                      </a:solidFill>
                      <a:prstDash val="solid"/>
                    </a:lnR>
                    <a:lnT w="6480">
                      <a:solidFill>
                        <a:srgbClr val="0F2040"/>
                      </a:solidFill>
                      <a:prstDash val="solid"/>
                    </a:lnT>
                    <a:lnB w="6480">
                      <a:solidFill>
                        <a:srgbClr val="0F2040"/>
                      </a:solidFill>
                      <a:prstDash val="solid"/>
                    </a:lnB>
                    <a:solidFill>
                      <a:srgbClr val="1A3560"/>
                    </a:solidFill>
                  </a:tcPr>
                </a:tc>
              </a:tr>
            </a:tbl>
          </a:graphicData>
        </a:graphic>
      </p:graphicFrame>
      <p:sp>
        <p:nvSpPr>
          <p:cNvPr id="310" name="Shape 9"/>
          <p:cNvSpPr/>
          <p:nvPr/>
        </p:nvSpPr>
        <p:spPr>
          <a:xfrm>
            <a:off x="274320" y="2853000"/>
            <a:ext cx="4160160" cy="1919880"/>
          </a:xfrm>
          <a:prstGeom prst="rect">
            <a:avLst/>
          </a:prstGeom>
          <a:solidFill>
            <a:srgbClr val="0F204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1" name="Shape 10"/>
          <p:cNvSpPr/>
          <p:nvPr/>
        </p:nvSpPr>
        <p:spPr>
          <a:xfrm>
            <a:off x="274320" y="2853000"/>
            <a:ext cx="4160160" cy="54360"/>
          </a:xfrm>
          <a:prstGeom prst="rect">
            <a:avLst/>
          </a:prstGeom>
          <a:solidFill>
            <a:srgbClr val="0070F3"/>
          </a:solidFill>
          <a:ln w="12700">
            <a:solidFill>
              <a:srgbClr val="0070F3"/>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312" name="Text 11"/>
          <p:cNvSpPr/>
          <p:nvPr/>
        </p:nvSpPr>
        <p:spPr>
          <a:xfrm>
            <a:off x="411480" y="2926080"/>
            <a:ext cx="3840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99" strike="noStrike">
                <a:solidFill>
                  <a:srgbClr val="0070F3"/>
                </a:solidFill>
                <a:effectLst/>
                <a:uFillTx/>
                <a:latin typeface="Calibri"/>
                <a:ea typeface="Calibri"/>
              </a:rPr>
              <a:t>terraform-azure-kv  ·  Security Defaults</a:t>
            </a:r>
            <a:endParaRPr lang="en-US" sz="900" b="0" u="none" strike="noStrike">
              <a:solidFill>
                <a:srgbClr val="FFFFFF"/>
              </a:solidFill>
              <a:effectLst/>
              <a:uFillTx/>
              <a:latin typeface="Arial"/>
            </a:endParaRPr>
          </a:p>
        </p:txBody>
      </p:sp>
      <p:sp>
        <p:nvSpPr>
          <p:cNvPr id="313" name="Text 12"/>
          <p:cNvSpPr/>
          <p:nvPr/>
        </p:nvSpPr>
        <p:spPr>
          <a:xfrm>
            <a:off x="411480" y="3246120"/>
            <a:ext cx="3858480" cy="1416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00D68F"/>
                </a:solidFill>
                <a:effectLst/>
                <a:uFillTx/>
                <a:latin typeface="Courier New"/>
                <a:ea typeface="Courier New"/>
              </a:rPr>
              <a:t>enable_rbac_authorization = true   # RBAC over access policies</a:t>
            </a:r>
            <a:endParaRPr lang="en-US" sz="950" b="0" u="none" strike="noStrike">
              <a:solidFill>
                <a:srgbClr val="FFFFFF"/>
              </a:solidFill>
              <a:effectLst/>
              <a:uFillTx/>
              <a:latin typeface="Arial"/>
            </a:endParaRPr>
          </a:p>
          <a:p>
            <a:pPr defTabSz="914400">
              <a:lnSpc>
                <a:spcPct val="100000"/>
              </a:lnSpc>
              <a:tabLst>
                <a:tab pos="0" algn="l"/>
              </a:tabLst>
            </a:pPr>
            <a:r>
              <a:rPr lang="en-US" sz="950" b="0" u="none" strike="noStrike">
                <a:solidFill>
                  <a:srgbClr val="00D68F"/>
                </a:solidFill>
                <a:effectLst/>
                <a:uFillTx/>
                <a:latin typeface="Courier New"/>
                <a:ea typeface="Courier New"/>
              </a:rPr>
              <a:t>purge_protection_enabled   = true   # prevents permanent deletion</a:t>
            </a:r>
            <a:endParaRPr lang="en-US" sz="950" b="0" u="none" strike="noStrike">
              <a:solidFill>
                <a:srgbClr val="FFFFFF"/>
              </a:solidFill>
              <a:effectLst/>
              <a:uFillTx/>
              <a:latin typeface="Arial"/>
            </a:endParaRPr>
          </a:p>
          <a:p>
            <a:pPr defTabSz="914400">
              <a:lnSpc>
                <a:spcPct val="100000"/>
              </a:lnSpc>
              <a:tabLst>
                <a:tab pos="0" algn="l"/>
              </a:tabLst>
            </a:pPr>
            <a:r>
              <a:rPr lang="en-US" sz="950" b="0" u="none" strike="noStrike">
                <a:solidFill>
                  <a:srgbClr val="00D68F"/>
                </a:solidFill>
                <a:effectLst/>
                <a:uFillTx/>
                <a:latin typeface="Courier New"/>
                <a:ea typeface="Courier New"/>
              </a:rPr>
              <a:t>soft_delete_retention_days = 90     # 90-day recovery window</a:t>
            </a:r>
            <a:endParaRPr lang="en-US" sz="950" b="0" u="none" strike="noStrike">
              <a:solidFill>
                <a:srgbClr val="FFFFFF"/>
              </a:solidFill>
              <a:effectLst/>
              <a:uFillTx/>
              <a:latin typeface="Arial"/>
            </a:endParaRPr>
          </a:p>
          <a:p>
            <a:pPr defTabSz="914400">
              <a:lnSpc>
                <a:spcPct val="100000"/>
              </a:lnSpc>
              <a:tabLst>
                <a:tab pos="0" algn="l"/>
              </a:tabLst>
            </a:pPr>
            <a:r>
              <a:rPr lang="en-US" sz="950" b="0" u="none" strike="noStrike">
                <a:solidFill>
                  <a:srgbClr val="00D68F"/>
                </a:solidFill>
                <a:effectLst/>
                <a:uFillTx/>
                <a:latin typeface="Courier New"/>
                <a:ea typeface="Courier New"/>
              </a:rPr>
              <a:t>network_acls.default_action = "Deny" # deny all by default</a:t>
            </a:r>
            <a:endParaRPr lang="en-US" sz="950" b="0" u="none" strike="noStrike">
              <a:solidFill>
                <a:srgbClr val="FFFFFF"/>
              </a:solidFill>
              <a:effectLst/>
              <a:uFillTx/>
              <a:latin typeface="Arial"/>
            </a:endParaRPr>
          </a:p>
          <a:p>
            <a:pPr defTabSz="914400">
              <a:lnSpc>
                <a:spcPct val="100000"/>
              </a:lnSpc>
              <a:tabLst>
                <a:tab pos="0" algn="l"/>
              </a:tabLst>
            </a:pPr>
            <a:r>
              <a:rPr lang="en-US" sz="950" b="0" u="none" strike="noStrike">
                <a:solidFill>
                  <a:srgbClr val="00D68F"/>
                </a:solidFill>
                <a:effectLst/>
                <a:uFillTx/>
                <a:latin typeface="Courier New"/>
                <a:ea typeface="Courier New"/>
              </a:rPr>
              <a:t>key rotation: auto P14D before expiry</a:t>
            </a:r>
            <a:endParaRPr lang="en-US" sz="950" b="0" u="none" strike="noStrike">
              <a:solidFill>
                <a:srgbClr val="FFFFFF"/>
              </a:solidFill>
              <a:effectLst/>
              <a:uFillTx/>
              <a:latin typeface="Arial"/>
            </a:endParaRPr>
          </a:p>
        </p:txBody>
      </p:sp>
      <p:sp>
        <p:nvSpPr>
          <p:cNvPr id="314" name="Shape 13"/>
          <p:cNvSpPr/>
          <p:nvPr/>
        </p:nvSpPr>
        <p:spPr>
          <a:xfrm>
            <a:off x="4709160" y="2853000"/>
            <a:ext cx="4160160" cy="1919880"/>
          </a:xfrm>
          <a:prstGeom prst="rect">
            <a:avLst/>
          </a:prstGeom>
          <a:solidFill>
            <a:srgbClr val="0F204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5" name="Shape 14"/>
          <p:cNvSpPr/>
          <p:nvPr/>
        </p:nvSpPr>
        <p:spPr>
          <a:xfrm>
            <a:off x="4709160" y="2853000"/>
            <a:ext cx="4160160" cy="54360"/>
          </a:xfrm>
          <a:prstGeom prst="rect">
            <a:avLst/>
          </a:prstGeom>
          <a:solidFill>
            <a:srgbClr val="00C8C8"/>
          </a:solidFill>
          <a:ln w="12700">
            <a:solidFill>
              <a:srgbClr val="00C8C8"/>
            </a:solidFill>
            <a:round/>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316" name="Text 15"/>
          <p:cNvSpPr/>
          <p:nvPr/>
        </p:nvSpPr>
        <p:spPr>
          <a:xfrm>
            <a:off x="4846320" y="2926080"/>
            <a:ext cx="38401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99" strike="noStrike">
                <a:solidFill>
                  <a:srgbClr val="00C8C8"/>
                </a:solidFill>
                <a:effectLst/>
                <a:uFillTx/>
                <a:latin typeface="Calibri"/>
                <a:ea typeface="Calibri"/>
              </a:rPr>
              <a:t>terraform-azure-sa  ·  Security Defaults</a:t>
            </a:r>
            <a:endParaRPr lang="en-US" sz="900" b="0" u="none" strike="noStrike">
              <a:solidFill>
                <a:srgbClr val="FFFFFF"/>
              </a:solidFill>
              <a:effectLst/>
              <a:uFillTx/>
              <a:latin typeface="Arial"/>
            </a:endParaRPr>
          </a:p>
        </p:txBody>
      </p:sp>
      <p:sp>
        <p:nvSpPr>
          <p:cNvPr id="317" name="Text 16"/>
          <p:cNvSpPr/>
          <p:nvPr/>
        </p:nvSpPr>
        <p:spPr>
          <a:xfrm>
            <a:off x="4846320" y="3246120"/>
            <a:ext cx="3858480" cy="1416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00C8C8"/>
                </a:solidFill>
                <a:effectLst/>
                <a:uFillTx/>
                <a:latin typeface="Courier New"/>
                <a:ea typeface="Courier New"/>
              </a:rPr>
              <a:t>https_traffic_only_enabled = true  # enforce HTTPS</a:t>
            </a:r>
            <a:endParaRPr lang="en-US" sz="950" b="0" u="none" strike="noStrike">
              <a:solidFill>
                <a:srgbClr val="FFFFFF"/>
              </a:solidFill>
              <a:effectLst/>
              <a:uFillTx/>
              <a:latin typeface="Arial"/>
            </a:endParaRPr>
          </a:p>
          <a:p>
            <a:pPr defTabSz="914400">
              <a:lnSpc>
                <a:spcPct val="100000"/>
              </a:lnSpc>
              <a:tabLst>
                <a:tab pos="0" algn="l"/>
              </a:tabLst>
            </a:pPr>
            <a:r>
              <a:rPr lang="en-US" sz="950" b="0" u="none" strike="noStrike">
                <a:solidFill>
                  <a:srgbClr val="00C8C8"/>
                </a:solidFill>
                <a:effectLst/>
                <a:uFillTx/>
                <a:latin typeface="Courier New"/>
                <a:ea typeface="Courier New"/>
              </a:rPr>
              <a:t>min_tls_version            = "TLS1_2"</a:t>
            </a:r>
            <a:endParaRPr lang="en-US" sz="950" b="0" u="none" strike="noStrike">
              <a:solidFill>
                <a:srgbClr val="FFFFFF"/>
              </a:solidFill>
              <a:effectLst/>
              <a:uFillTx/>
              <a:latin typeface="Arial"/>
            </a:endParaRPr>
          </a:p>
          <a:p>
            <a:pPr defTabSz="914400">
              <a:lnSpc>
                <a:spcPct val="100000"/>
              </a:lnSpc>
              <a:tabLst>
                <a:tab pos="0" algn="l"/>
              </a:tabLst>
            </a:pPr>
            <a:r>
              <a:rPr lang="en-US" sz="950" b="0" u="none" strike="noStrike">
                <a:solidFill>
                  <a:srgbClr val="00C8C8"/>
                </a:solidFill>
                <a:effectLst/>
                <a:uFillTx/>
                <a:latin typeface="Courier New"/>
                <a:ea typeface="Courier New"/>
              </a:rPr>
              <a:t>allow_nested_items_to_be_public = false</a:t>
            </a:r>
            <a:endParaRPr lang="en-US" sz="950" b="0" u="none" strike="noStrike">
              <a:solidFill>
                <a:srgbClr val="FFFFFF"/>
              </a:solidFill>
              <a:effectLst/>
              <a:uFillTx/>
              <a:latin typeface="Arial"/>
            </a:endParaRPr>
          </a:p>
          <a:p>
            <a:pPr defTabSz="914400">
              <a:lnSpc>
                <a:spcPct val="100000"/>
              </a:lnSpc>
              <a:tabLst>
                <a:tab pos="0" algn="l"/>
              </a:tabLst>
            </a:pPr>
            <a:r>
              <a:rPr lang="en-US" sz="950" b="0" u="none" strike="noStrike">
                <a:solidFill>
                  <a:srgbClr val="00C8C8"/>
                </a:solidFill>
                <a:effectLst/>
                <a:uFillTx/>
                <a:latin typeface="Courier New"/>
                <a:ea typeface="Courier New"/>
              </a:rPr>
              <a:t>account_replication_type   = "GRS"  # geo-redundant</a:t>
            </a:r>
            <a:endParaRPr lang="en-US" sz="950" b="0" u="none" strike="noStrike">
              <a:solidFill>
                <a:srgbClr val="FFFFFF"/>
              </a:solidFill>
              <a:effectLst/>
              <a:uFillTx/>
              <a:latin typeface="Arial"/>
            </a:endParaRPr>
          </a:p>
          <a:p>
            <a:pPr defTabSz="914400">
              <a:lnSpc>
                <a:spcPct val="100000"/>
              </a:lnSpc>
              <a:tabLst>
                <a:tab pos="0" algn="l"/>
              </a:tabLst>
            </a:pPr>
            <a:r>
              <a:rPr lang="en-US" sz="950" b="0" u="none" strike="noStrike">
                <a:solidFill>
                  <a:srgbClr val="00C8C8"/>
                </a:solidFill>
                <a:effectLst/>
                <a:uFillTx/>
                <a:latin typeface="Courier New"/>
                <a:ea typeface="Courier New"/>
              </a:rPr>
              <a:t>network_rules.default_action = "Deny"</a:t>
            </a:r>
            <a:endParaRPr lang="en-US"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18"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319" name="Text 1"/>
          <p:cNvSpPr/>
          <p:nvPr/>
        </p:nvSpPr>
        <p:spPr>
          <a:xfrm>
            <a:off x="457200" y="164520"/>
            <a:ext cx="8229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How the MCP Server Stays Accurate: The RAG Backend</a:t>
            </a:r>
            <a:endParaRPr lang="en-US" sz="2600" b="0" u="none" strike="noStrike">
              <a:solidFill>
                <a:srgbClr val="FFFFFF"/>
              </a:solidFill>
              <a:effectLst/>
              <a:uFillTx/>
              <a:latin typeface="Arial"/>
            </a:endParaRPr>
          </a:p>
        </p:txBody>
      </p:sp>
      <p:sp>
        <p:nvSpPr>
          <p:cNvPr id="320" name="Text 2"/>
          <p:cNvSpPr/>
          <p:nvPr/>
        </p:nvSpPr>
        <p:spPr>
          <a:xfrm>
            <a:off x="457200" y="658440"/>
            <a:ext cx="8229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38ACFF"/>
                </a:solidFill>
                <a:effectLst/>
                <a:uFillTx/>
                <a:latin typeface="Calibri"/>
                <a:ea typeface="Calibri"/>
              </a:rPr>
              <a:t>Retrieval-Augmented Generation ensures the AI always works from current, allowlisted, version-controlled module definitions</a:t>
            </a:r>
            <a:endParaRPr lang="en-US" sz="1200" b="0" u="none" strike="noStrike">
              <a:solidFill>
                <a:srgbClr val="FFFFFF"/>
              </a:solidFill>
              <a:effectLst/>
              <a:uFillTx/>
              <a:latin typeface="Arial"/>
            </a:endParaRPr>
          </a:p>
        </p:txBody>
      </p:sp>
      <p:sp>
        <p:nvSpPr>
          <p:cNvPr id="321" name="Shape 3"/>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2" name="Text 4"/>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323" name="Text 5"/>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11 / 12</a:t>
            </a:r>
            <a:endParaRPr lang="en-US" sz="800" b="0" u="none" strike="noStrike">
              <a:solidFill>
                <a:srgbClr val="FFFFFF"/>
              </a:solidFill>
              <a:effectLst/>
              <a:uFillTx/>
              <a:latin typeface="Arial"/>
            </a:endParaRPr>
          </a:p>
        </p:txBody>
      </p:sp>
      <p:sp>
        <p:nvSpPr>
          <p:cNvPr id="324" name="Text 6"/>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
        <p:nvSpPr>
          <p:cNvPr id="325" name="Shape 7"/>
          <p:cNvSpPr/>
          <p:nvPr/>
        </p:nvSpPr>
        <p:spPr>
          <a:xfrm>
            <a:off x="255960" y="1024200"/>
            <a:ext cx="1956600" cy="374868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6" name="Shape 8"/>
          <p:cNvSpPr/>
          <p:nvPr/>
        </p:nvSpPr>
        <p:spPr>
          <a:xfrm>
            <a:off x="255960" y="1024200"/>
            <a:ext cx="1956600" cy="54360"/>
          </a:xfrm>
          <a:prstGeom prst="rect">
            <a:avLst/>
          </a:prstGeom>
          <a:solidFill>
            <a:srgbClr val="0070F3"/>
          </a:solidFill>
          <a:ln w="12700">
            <a:solidFill>
              <a:srgbClr val="0070F3"/>
            </a:solidFill>
            <a:round/>
          </a:ln>
        </p:spPr>
        <p:style>
          <a:lnRef idx="0"/>
          <a:fillRef idx="0"/>
          <a:effectRef idx="0"/>
          <a:fontRef idx="minor"/>
        </p:style>
        <p:txBody>
          <a:bodyPr lIns="90000" tIns="9720" rIns="90000" bIns="9720" anchor="t">
            <a:noAutofit/>
          </a:bodyPr>
          <a:p>
            <a:endParaRPr lang="en-US" sz="1800" b="0" u="none" strike="noStrike">
              <a:solidFill>
                <a:srgbClr val="FFFFFF"/>
              </a:solidFill>
              <a:effectLst/>
              <a:uFillTx/>
              <a:latin typeface="Arial"/>
            </a:endParaRPr>
          </a:p>
        </p:txBody>
      </p:sp>
      <p:sp>
        <p:nvSpPr>
          <p:cNvPr id="327" name="Text 9"/>
          <p:cNvSpPr/>
          <p:nvPr/>
        </p:nvSpPr>
        <p:spPr>
          <a:xfrm>
            <a:off x="384120" y="1115640"/>
            <a:ext cx="1700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0070F3"/>
                </a:solidFill>
                <a:effectLst/>
                <a:uFillTx/>
                <a:latin typeface="Calibri"/>
                <a:ea typeface="Calibri"/>
              </a:rPr>
              <a:t>01</a:t>
            </a:r>
            <a:endParaRPr lang="en-US" sz="3200" b="0" u="none" strike="noStrike">
              <a:solidFill>
                <a:srgbClr val="FFFFFF"/>
              </a:solidFill>
              <a:effectLst/>
              <a:uFillTx/>
              <a:latin typeface="Arial"/>
            </a:endParaRPr>
          </a:p>
        </p:txBody>
      </p:sp>
      <p:sp>
        <p:nvSpPr>
          <p:cNvPr id="328" name="Text 10"/>
          <p:cNvSpPr/>
          <p:nvPr/>
        </p:nvSpPr>
        <p:spPr>
          <a:xfrm>
            <a:off x="384120" y="1664280"/>
            <a:ext cx="17002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Ingest</a:t>
            </a:r>
            <a:endParaRPr lang="en-US" sz="1600" b="0" u="none" strike="noStrike">
              <a:solidFill>
                <a:srgbClr val="FFFFFF"/>
              </a:solidFill>
              <a:effectLst/>
              <a:uFillTx/>
              <a:latin typeface="Arial"/>
            </a:endParaRPr>
          </a:p>
        </p:txBody>
      </p:sp>
      <p:sp>
        <p:nvSpPr>
          <p:cNvPr id="329" name="Shape 11"/>
          <p:cNvSpPr/>
          <p:nvPr/>
        </p:nvSpPr>
        <p:spPr>
          <a:xfrm>
            <a:off x="384120" y="2048400"/>
            <a:ext cx="822600" cy="36360"/>
          </a:xfrm>
          <a:prstGeom prst="rect">
            <a:avLst/>
          </a:prstGeom>
          <a:solidFill>
            <a:srgbClr val="0070F3"/>
          </a:solidFill>
          <a:ln w="12700">
            <a:solidFill>
              <a:srgbClr val="0070F3"/>
            </a:solidFill>
            <a:round/>
          </a:ln>
        </p:spPr>
        <p:style>
          <a:lnRef idx="0"/>
          <a:fillRef idx="0"/>
          <a:effectRef idx="0"/>
          <a:fontRef idx="minor"/>
        </p:style>
        <p:txBody>
          <a:bodyPr lIns="90000" tIns="-8280" rIns="90000" bIns="-8280" anchor="t">
            <a:noAutofit/>
          </a:bodyPr>
          <a:p>
            <a:endParaRPr lang="en-US" sz="1800" b="0" u="none" strike="noStrike">
              <a:solidFill>
                <a:srgbClr val="FFFFFF"/>
              </a:solidFill>
              <a:effectLst/>
              <a:uFillTx/>
              <a:latin typeface="Arial"/>
            </a:endParaRPr>
          </a:p>
        </p:txBody>
      </p:sp>
      <p:sp>
        <p:nvSpPr>
          <p:cNvPr id="330" name="Text 12"/>
          <p:cNvSpPr/>
          <p:nvPr/>
        </p:nvSpPr>
        <p:spPr>
          <a:xfrm>
            <a:off x="384120" y="2148840"/>
            <a:ext cx="1691280" cy="2468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A8BDD0"/>
                </a:solidFill>
                <a:effectLst/>
                <a:uFillTx/>
                <a:latin typeface="Calibri"/>
                <a:ea typeface="Calibri"/>
              </a:rPr>
              <a:t>Git webhooks trigger re-indexing on every WAM repo merge. python-hcl2 parses .tf files into structured JSON. Module-boundary chunking — not sliding window — preserves semantic units.</a:t>
            </a:r>
            <a:endParaRPr lang="en-US" sz="1000" b="0" u="none" strike="noStrike">
              <a:solidFill>
                <a:srgbClr val="FFFFFF"/>
              </a:solidFill>
              <a:effectLst/>
              <a:uFillTx/>
              <a:latin typeface="Arial"/>
            </a:endParaRPr>
          </a:p>
        </p:txBody>
      </p:sp>
      <p:sp>
        <p:nvSpPr>
          <p:cNvPr id="331" name="Text 13"/>
          <p:cNvSpPr/>
          <p:nvPr/>
        </p:nvSpPr>
        <p:spPr>
          <a:xfrm>
            <a:off x="2240280" y="2578680"/>
            <a:ext cx="31968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5A7A9A"/>
                </a:solidFill>
                <a:effectLst/>
                <a:uFillTx/>
                <a:latin typeface="Calibri"/>
                <a:ea typeface="Calibri"/>
              </a:rPr>
              <a:t>→</a:t>
            </a:r>
            <a:endParaRPr lang="en-US" sz="1800" b="0" u="none" strike="noStrike">
              <a:solidFill>
                <a:srgbClr val="FFFFFF"/>
              </a:solidFill>
              <a:effectLst/>
              <a:uFillTx/>
              <a:latin typeface="Arial"/>
            </a:endParaRPr>
          </a:p>
        </p:txBody>
      </p:sp>
      <p:sp>
        <p:nvSpPr>
          <p:cNvPr id="332" name="Shape 14"/>
          <p:cNvSpPr/>
          <p:nvPr/>
        </p:nvSpPr>
        <p:spPr>
          <a:xfrm>
            <a:off x="2377440" y="1024200"/>
            <a:ext cx="1956600" cy="374868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3" name="Shape 15"/>
          <p:cNvSpPr/>
          <p:nvPr/>
        </p:nvSpPr>
        <p:spPr>
          <a:xfrm>
            <a:off x="2377440" y="1024200"/>
            <a:ext cx="1956600" cy="54360"/>
          </a:xfrm>
          <a:prstGeom prst="rect">
            <a:avLst/>
          </a:prstGeom>
          <a:solidFill>
            <a:srgbClr val="00C8C8"/>
          </a:solidFill>
          <a:ln w="12700">
            <a:solidFill>
              <a:srgbClr val="00C8C8"/>
            </a:solidFill>
            <a:round/>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334" name="Text 16"/>
          <p:cNvSpPr/>
          <p:nvPr/>
        </p:nvSpPr>
        <p:spPr>
          <a:xfrm>
            <a:off x="2505600" y="1115640"/>
            <a:ext cx="1700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00C8C8"/>
                </a:solidFill>
                <a:effectLst/>
                <a:uFillTx/>
                <a:latin typeface="Calibri"/>
                <a:ea typeface="Calibri"/>
              </a:rPr>
              <a:t>02</a:t>
            </a:r>
            <a:endParaRPr lang="en-US" sz="3200" b="0" u="none" strike="noStrike">
              <a:solidFill>
                <a:srgbClr val="FFFFFF"/>
              </a:solidFill>
              <a:effectLst/>
              <a:uFillTx/>
              <a:latin typeface="Arial"/>
            </a:endParaRPr>
          </a:p>
        </p:txBody>
      </p:sp>
      <p:sp>
        <p:nvSpPr>
          <p:cNvPr id="335" name="Text 17"/>
          <p:cNvSpPr/>
          <p:nvPr/>
        </p:nvSpPr>
        <p:spPr>
          <a:xfrm>
            <a:off x="2505600" y="1664280"/>
            <a:ext cx="17002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Embed</a:t>
            </a:r>
            <a:endParaRPr lang="en-US" sz="1600" b="0" u="none" strike="noStrike">
              <a:solidFill>
                <a:srgbClr val="FFFFFF"/>
              </a:solidFill>
              <a:effectLst/>
              <a:uFillTx/>
              <a:latin typeface="Arial"/>
            </a:endParaRPr>
          </a:p>
        </p:txBody>
      </p:sp>
      <p:sp>
        <p:nvSpPr>
          <p:cNvPr id="336" name="Shape 18"/>
          <p:cNvSpPr/>
          <p:nvPr/>
        </p:nvSpPr>
        <p:spPr>
          <a:xfrm>
            <a:off x="2505600" y="2048400"/>
            <a:ext cx="822600" cy="36360"/>
          </a:xfrm>
          <a:prstGeom prst="rect">
            <a:avLst/>
          </a:prstGeom>
          <a:solidFill>
            <a:srgbClr val="00C8C8"/>
          </a:solidFill>
          <a:ln w="12700">
            <a:solidFill>
              <a:srgbClr val="00C8C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337" name="Text 19"/>
          <p:cNvSpPr/>
          <p:nvPr/>
        </p:nvSpPr>
        <p:spPr>
          <a:xfrm>
            <a:off x="2505600" y="2148840"/>
            <a:ext cx="1691280" cy="2468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A8BDD0"/>
                </a:solidFill>
                <a:effectLst/>
                <a:uFillTx/>
                <a:latin typeface="Calibri"/>
                <a:ea typeface="Calibri"/>
              </a:rPr>
              <a:t>text-embedding-3-large (OpenAI) or bge-m3 (self-hosted for data residency). Same model at ingest and query time — enforced at server startup. 1536-dimension vectors with scalar int8 quantization.</a:t>
            </a:r>
            <a:endParaRPr lang="en-US" sz="1000" b="0" u="none" strike="noStrike">
              <a:solidFill>
                <a:srgbClr val="FFFFFF"/>
              </a:solidFill>
              <a:effectLst/>
              <a:uFillTx/>
              <a:latin typeface="Arial"/>
            </a:endParaRPr>
          </a:p>
        </p:txBody>
      </p:sp>
      <p:sp>
        <p:nvSpPr>
          <p:cNvPr id="338" name="Text 20"/>
          <p:cNvSpPr/>
          <p:nvPr/>
        </p:nvSpPr>
        <p:spPr>
          <a:xfrm>
            <a:off x="4361760" y="2578680"/>
            <a:ext cx="31968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5A7A9A"/>
                </a:solidFill>
                <a:effectLst/>
                <a:uFillTx/>
                <a:latin typeface="Calibri"/>
                <a:ea typeface="Calibri"/>
              </a:rPr>
              <a:t>→</a:t>
            </a:r>
            <a:endParaRPr lang="en-US" sz="1800" b="0" u="none" strike="noStrike">
              <a:solidFill>
                <a:srgbClr val="FFFFFF"/>
              </a:solidFill>
              <a:effectLst/>
              <a:uFillTx/>
              <a:latin typeface="Arial"/>
            </a:endParaRPr>
          </a:p>
        </p:txBody>
      </p:sp>
      <p:sp>
        <p:nvSpPr>
          <p:cNvPr id="339" name="Shape 21"/>
          <p:cNvSpPr/>
          <p:nvPr/>
        </p:nvSpPr>
        <p:spPr>
          <a:xfrm>
            <a:off x="4498920" y="1024200"/>
            <a:ext cx="1956600" cy="374868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0" name="Shape 22"/>
          <p:cNvSpPr/>
          <p:nvPr/>
        </p:nvSpPr>
        <p:spPr>
          <a:xfrm>
            <a:off x="4498920" y="1024200"/>
            <a:ext cx="1956600" cy="54360"/>
          </a:xfrm>
          <a:prstGeom prst="rect">
            <a:avLst/>
          </a:prstGeom>
          <a:solidFill>
            <a:srgbClr val="00D68F"/>
          </a:solidFill>
          <a:ln w="12700">
            <a:solidFill>
              <a:srgbClr val="00D68F"/>
            </a:solidFill>
            <a:round/>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341" name="Text 23"/>
          <p:cNvSpPr/>
          <p:nvPr/>
        </p:nvSpPr>
        <p:spPr>
          <a:xfrm>
            <a:off x="4626720" y="1115640"/>
            <a:ext cx="1700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00D68F"/>
                </a:solidFill>
                <a:effectLst/>
                <a:uFillTx/>
                <a:latin typeface="Calibri"/>
                <a:ea typeface="Calibri"/>
              </a:rPr>
              <a:t>03</a:t>
            </a:r>
            <a:endParaRPr lang="en-US" sz="3200" b="0" u="none" strike="noStrike">
              <a:solidFill>
                <a:srgbClr val="FFFFFF"/>
              </a:solidFill>
              <a:effectLst/>
              <a:uFillTx/>
              <a:latin typeface="Arial"/>
            </a:endParaRPr>
          </a:p>
        </p:txBody>
      </p:sp>
      <p:sp>
        <p:nvSpPr>
          <p:cNvPr id="342" name="Text 24"/>
          <p:cNvSpPr/>
          <p:nvPr/>
        </p:nvSpPr>
        <p:spPr>
          <a:xfrm>
            <a:off x="4626720" y="1664280"/>
            <a:ext cx="17002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Retrieve</a:t>
            </a:r>
            <a:endParaRPr lang="en-US" sz="1600" b="0" u="none" strike="noStrike">
              <a:solidFill>
                <a:srgbClr val="FFFFFF"/>
              </a:solidFill>
              <a:effectLst/>
              <a:uFillTx/>
              <a:latin typeface="Arial"/>
            </a:endParaRPr>
          </a:p>
        </p:txBody>
      </p:sp>
      <p:sp>
        <p:nvSpPr>
          <p:cNvPr id="343" name="Shape 25"/>
          <p:cNvSpPr/>
          <p:nvPr/>
        </p:nvSpPr>
        <p:spPr>
          <a:xfrm>
            <a:off x="4626720" y="2048400"/>
            <a:ext cx="822600" cy="36360"/>
          </a:xfrm>
          <a:prstGeom prst="rect">
            <a:avLst/>
          </a:prstGeom>
          <a:solidFill>
            <a:srgbClr val="00D68F"/>
          </a:solidFill>
          <a:ln w="12700">
            <a:solidFill>
              <a:srgbClr val="00D68F"/>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344" name="Text 26"/>
          <p:cNvSpPr/>
          <p:nvPr/>
        </p:nvSpPr>
        <p:spPr>
          <a:xfrm>
            <a:off x="4626720" y="2148840"/>
            <a:ext cx="1691280" cy="2468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A8BDD0"/>
                </a:solidFill>
                <a:effectLst/>
                <a:uFillTx/>
                <a:latin typeface="Calibri"/>
                <a:ea typeface="Calibri"/>
              </a:rPr>
              <a:t>Hybrid dense + BM25 sparse search via Qdrant. Payload filter: stability='stable' applied unconditionally. Top-20 candidates re-ranked by cross-encoder. Top-5–8 injected into AI context.</a:t>
            </a:r>
            <a:endParaRPr lang="en-US" sz="1000" b="0" u="none" strike="noStrike">
              <a:solidFill>
                <a:srgbClr val="FFFFFF"/>
              </a:solidFill>
              <a:effectLst/>
              <a:uFillTx/>
              <a:latin typeface="Arial"/>
            </a:endParaRPr>
          </a:p>
        </p:txBody>
      </p:sp>
      <p:sp>
        <p:nvSpPr>
          <p:cNvPr id="345" name="Text 27"/>
          <p:cNvSpPr/>
          <p:nvPr/>
        </p:nvSpPr>
        <p:spPr>
          <a:xfrm>
            <a:off x="6483240" y="2578680"/>
            <a:ext cx="319680" cy="347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u="none" strike="noStrike">
                <a:solidFill>
                  <a:srgbClr val="5A7A9A"/>
                </a:solidFill>
                <a:effectLst/>
                <a:uFillTx/>
                <a:latin typeface="Calibri"/>
                <a:ea typeface="Calibri"/>
              </a:rPr>
              <a:t>→</a:t>
            </a:r>
            <a:endParaRPr lang="en-US" sz="1800" b="0" u="none" strike="noStrike">
              <a:solidFill>
                <a:srgbClr val="FFFFFF"/>
              </a:solidFill>
              <a:effectLst/>
              <a:uFillTx/>
              <a:latin typeface="Arial"/>
            </a:endParaRPr>
          </a:p>
        </p:txBody>
      </p:sp>
      <p:sp>
        <p:nvSpPr>
          <p:cNvPr id="346" name="Shape 28"/>
          <p:cNvSpPr/>
          <p:nvPr/>
        </p:nvSpPr>
        <p:spPr>
          <a:xfrm>
            <a:off x="6620400" y="1024200"/>
            <a:ext cx="1956600" cy="374868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7" name="Shape 29"/>
          <p:cNvSpPr/>
          <p:nvPr/>
        </p:nvSpPr>
        <p:spPr>
          <a:xfrm>
            <a:off x="6620400" y="1024200"/>
            <a:ext cx="1956600" cy="54360"/>
          </a:xfrm>
          <a:prstGeom prst="rect">
            <a:avLst/>
          </a:prstGeom>
          <a:solidFill>
            <a:srgbClr val="FFB830"/>
          </a:solidFill>
          <a:ln w="12700">
            <a:solidFill>
              <a:srgbClr val="FFB830"/>
            </a:solidFill>
            <a:round/>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348" name="Text 30"/>
          <p:cNvSpPr/>
          <p:nvPr/>
        </p:nvSpPr>
        <p:spPr>
          <a:xfrm>
            <a:off x="6748200" y="1115640"/>
            <a:ext cx="170028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FFB830"/>
                </a:solidFill>
                <a:effectLst/>
                <a:uFillTx/>
                <a:latin typeface="Calibri"/>
                <a:ea typeface="Calibri"/>
              </a:rPr>
              <a:t>04</a:t>
            </a:r>
            <a:endParaRPr lang="en-US" sz="3200" b="0" u="none" strike="noStrike">
              <a:solidFill>
                <a:srgbClr val="FFFFFF"/>
              </a:solidFill>
              <a:effectLst/>
              <a:uFillTx/>
              <a:latin typeface="Arial"/>
            </a:endParaRPr>
          </a:p>
        </p:txBody>
      </p:sp>
      <p:sp>
        <p:nvSpPr>
          <p:cNvPr id="349" name="Text 31"/>
          <p:cNvSpPr/>
          <p:nvPr/>
        </p:nvSpPr>
        <p:spPr>
          <a:xfrm>
            <a:off x="6748200" y="1664280"/>
            <a:ext cx="170028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Calibri"/>
                <a:ea typeface="Calibri"/>
              </a:rPr>
              <a:t>Enforce</a:t>
            </a:r>
            <a:endParaRPr lang="en-US" sz="1600" b="0" u="none" strike="noStrike">
              <a:solidFill>
                <a:srgbClr val="FFFFFF"/>
              </a:solidFill>
              <a:effectLst/>
              <a:uFillTx/>
              <a:latin typeface="Arial"/>
            </a:endParaRPr>
          </a:p>
        </p:txBody>
      </p:sp>
      <p:sp>
        <p:nvSpPr>
          <p:cNvPr id="350" name="Shape 32"/>
          <p:cNvSpPr/>
          <p:nvPr/>
        </p:nvSpPr>
        <p:spPr>
          <a:xfrm>
            <a:off x="6748200" y="2048400"/>
            <a:ext cx="822600" cy="36360"/>
          </a:xfrm>
          <a:prstGeom prst="rect">
            <a:avLst/>
          </a:prstGeom>
          <a:solidFill>
            <a:srgbClr val="FFB830"/>
          </a:solidFill>
          <a:ln w="12700">
            <a:solidFill>
              <a:srgbClr val="FFB830"/>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351" name="Text 33"/>
          <p:cNvSpPr/>
          <p:nvPr/>
        </p:nvSpPr>
        <p:spPr>
          <a:xfrm>
            <a:off x="6748200" y="2148840"/>
            <a:ext cx="1691280" cy="2468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A8BDD0"/>
                </a:solidFill>
                <a:effectLst/>
                <a:uFillTx/>
                <a:latin typeface="Calibri"/>
                <a:ea typeface="Calibri"/>
              </a:rPr>
              <a:t>Module allowlist check on every generated source reference. OPA policy evaluated against terraform plan JSON. Sensitive outputs redacted. AI never sees state files or production credentials.</a:t>
            </a:r>
            <a:endParaRPr lang="en-US" sz="1000" b="0" u="none" strike="noStrike">
              <a:solidFill>
                <a:srgbClr val="FFFFFF"/>
              </a:solidFill>
              <a:effectLst/>
              <a:uFillTx/>
              <a:latin typeface="Arial"/>
            </a:endParaRPr>
          </a:p>
        </p:txBody>
      </p:sp>
      <p:sp>
        <p:nvSpPr>
          <p:cNvPr id="352" name="Shape 34"/>
          <p:cNvSpPr/>
          <p:nvPr/>
        </p:nvSpPr>
        <p:spPr>
          <a:xfrm>
            <a:off x="255960" y="4846320"/>
            <a:ext cx="8613360" cy="182520"/>
          </a:xfrm>
          <a:prstGeom prst="rect">
            <a:avLst/>
          </a:prstGeom>
          <a:solidFill>
            <a:srgbClr val="07103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3" name="Text 35"/>
          <p:cNvSpPr/>
          <p:nvPr/>
        </p:nvSpPr>
        <p:spPr>
          <a:xfrm>
            <a:off x="365760" y="4791600"/>
            <a:ext cx="841212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50" b="0" i="1" u="none" strike="noStrike">
                <a:solidFill>
                  <a:srgbClr val="38ACFF"/>
                </a:solidFill>
                <a:effectLst/>
                <a:uFillTx/>
                <a:latin typeface="Calibri"/>
                <a:ea typeface="Calibri"/>
              </a:rPr>
              <a:t>Anti-hallucination guarantee: if it is not retrieved from a trusted, versioned source — the AI cannot generate it. The allowlist is the boundary.</a:t>
            </a:r>
            <a:endParaRPr lang="en-US"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040"/>
        </a:solidFill>
      </p:bgPr>
    </p:bg>
    <p:spTree>
      <p:nvGrpSpPr>
        <p:cNvPr id="1" name=""/>
        <p:cNvGrpSpPr/>
        <p:nvPr/>
      </p:nvGrpSpPr>
      <p:grpSpPr>
        <a:xfrm>
          <a:off x="0" y="0"/>
          <a:ext cx="0" cy="0"/>
          <a:chOff x="0" y="0"/>
          <a:chExt cx="0" cy="0"/>
        </a:xfrm>
      </p:grpSpPr>
      <p:sp>
        <p:nvSpPr>
          <p:cNvPr id="354" name="Shape 0"/>
          <p:cNvSpPr/>
          <p:nvPr/>
        </p:nvSpPr>
        <p:spPr>
          <a:xfrm>
            <a:off x="0" y="0"/>
            <a:ext cx="9143640" cy="63720"/>
          </a:xfrm>
          <a:prstGeom prst="rect">
            <a:avLst/>
          </a:prstGeom>
          <a:solidFill>
            <a:srgbClr val="0070F3"/>
          </a:solidFill>
          <a:ln w="12700">
            <a:solidFill>
              <a:srgbClr val="0070F3"/>
            </a:solidFill>
            <a:round/>
          </a:ln>
        </p:spPr>
        <p:style>
          <a:lnRef idx="0"/>
          <a:fillRef idx="0"/>
          <a:effectRef idx="0"/>
          <a:fontRef idx="minor"/>
        </p:style>
        <p:txBody>
          <a:bodyPr lIns="90000" tIns="19080" rIns="90000" bIns="19080" anchor="t">
            <a:noAutofit/>
          </a:bodyPr>
          <a:p>
            <a:endParaRPr lang="en-US" sz="1800" b="0" u="none" strike="noStrike">
              <a:solidFill>
                <a:srgbClr val="FFFFFF"/>
              </a:solidFill>
              <a:effectLst/>
              <a:uFillTx/>
              <a:latin typeface="Arial"/>
            </a:endParaRPr>
          </a:p>
        </p:txBody>
      </p:sp>
      <p:sp>
        <p:nvSpPr>
          <p:cNvPr id="355" name="Shape 1"/>
          <p:cNvSpPr/>
          <p:nvPr/>
        </p:nvSpPr>
        <p:spPr>
          <a:xfrm>
            <a:off x="0" y="64080"/>
            <a:ext cx="4388760" cy="5079240"/>
          </a:xfrm>
          <a:prstGeom prst="rect">
            <a:avLst/>
          </a:prstGeom>
          <a:solidFill>
            <a:srgbClr val="0A1628"/>
          </a:solidFill>
          <a:ln w="12700">
            <a:solidFill>
              <a:srgbClr val="0A16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6" name="Shape 2"/>
          <p:cNvSpPr/>
          <p:nvPr/>
        </p:nvSpPr>
        <p:spPr>
          <a:xfrm>
            <a:off x="0" y="64080"/>
            <a:ext cx="109440" cy="5079240"/>
          </a:xfrm>
          <a:prstGeom prst="rect">
            <a:avLst/>
          </a:prstGeom>
          <a:solidFill>
            <a:srgbClr val="0070F3"/>
          </a:solidFill>
          <a:ln w="12700">
            <a:solidFill>
              <a:srgbClr val="0070F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7" name="Text 3"/>
          <p:cNvSpPr/>
          <p:nvPr/>
        </p:nvSpPr>
        <p:spPr>
          <a:xfrm>
            <a:off x="274320" y="731520"/>
            <a:ext cx="3931560" cy="1279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FFFFFF"/>
                </a:solidFill>
                <a:effectLst/>
                <a:uFillTx/>
                <a:latin typeface="Calibri"/>
                <a:ea typeface="Calibri"/>
              </a:rPr>
              <a:t>What happens</a:t>
            </a:r>
            <a:endParaRPr lang="en-US" sz="3000" b="0" u="none" strike="noStrike">
              <a:solidFill>
                <a:srgbClr val="FFFFFF"/>
              </a:solidFill>
              <a:effectLst/>
              <a:uFillTx/>
              <a:latin typeface="Arial"/>
            </a:endParaRPr>
          </a:p>
          <a:p>
            <a:pPr defTabSz="914400">
              <a:lnSpc>
                <a:spcPct val="100000"/>
              </a:lnSpc>
              <a:tabLst>
                <a:tab pos="0" algn="l"/>
              </a:tabLst>
            </a:pPr>
            <a:r>
              <a:rPr lang="en-US" sz="3000" b="1" u="none" strike="noStrike">
                <a:solidFill>
                  <a:srgbClr val="FFFFFF"/>
                </a:solidFill>
                <a:effectLst/>
                <a:uFillTx/>
                <a:latin typeface="Calibri"/>
                <a:ea typeface="Calibri"/>
              </a:rPr>
              <a:t>next is up to you.</a:t>
            </a:r>
            <a:endParaRPr lang="en-US" sz="3000" b="0" u="none" strike="noStrike">
              <a:solidFill>
                <a:srgbClr val="FFFFFF"/>
              </a:solidFill>
              <a:effectLst/>
              <a:uFillTx/>
              <a:latin typeface="Arial"/>
            </a:endParaRPr>
          </a:p>
        </p:txBody>
      </p:sp>
      <p:sp>
        <p:nvSpPr>
          <p:cNvPr id="358" name="Text 4"/>
          <p:cNvSpPr/>
          <p:nvPr/>
        </p:nvSpPr>
        <p:spPr>
          <a:xfrm>
            <a:off x="274320" y="2176200"/>
            <a:ext cx="393156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A8BDD0"/>
                </a:solidFill>
                <a:effectLst/>
                <a:uFillTx/>
                <a:latin typeface="Calibri"/>
                <a:ea typeface="Calibri"/>
              </a:rPr>
              <a:t>Three ways CloudNation can start</a:t>
            </a:r>
            <a:endParaRPr lang="en-US" sz="1300" b="0" u="none" strike="noStrike">
              <a:solidFill>
                <a:srgbClr val="FFFFFF"/>
              </a:solidFill>
              <a:effectLst/>
              <a:uFillTx/>
              <a:latin typeface="Arial"/>
            </a:endParaRPr>
          </a:p>
          <a:p>
            <a:pPr defTabSz="914400">
              <a:lnSpc>
                <a:spcPct val="100000"/>
              </a:lnSpc>
              <a:tabLst>
                <a:tab pos="0" algn="l"/>
              </a:tabLst>
            </a:pPr>
            <a:r>
              <a:rPr lang="en-US" sz="1300" b="0" u="none" strike="noStrike">
                <a:solidFill>
                  <a:srgbClr val="A8BDD0"/>
                </a:solidFill>
                <a:effectLst/>
                <a:uFillTx/>
                <a:latin typeface="Calibri"/>
                <a:ea typeface="Calibri"/>
              </a:rPr>
              <a:t>delivering value this quarter:</a:t>
            </a:r>
            <a:endParaRPr lang="en-US" sz="1300" b="0" u="none" strike="noStrike">
              <a:solidFill>
                <a:srgbClr val="FFFFFF"/>
              </a:solidFill>
              <a:effectLst/>
              <a:uFillTx/>
              <a:latin typeface="Arial"/>
            </a:endParaRPr>
          </a:p>
        </p:txBody>
      </p:sp>
      <p:sp>
        <p:nvSpPr>
          <p:cNvPr id="359" name="Shape 5"/>
          <p:cNvSpPr/>
          <p:nvPr/>
        </p:nvSpPr>
        <p:spPr>
          <a:xfrm>
            <a:off x="274320" y="2880360"/>
            <a:ext cx="383760" cy="383760"/>
          </a:xfrm>
          <a:prstGeom prst="ellipse">
            <a:avLst/>
          </a:prstGeom>
          <a:solidFill>
            <a:srgbClr val="0070F3"/>
          </a:solidFill>
          <a:ln w="12700">
            <a:solidFill>
              <a:srgbClr val="0070F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0" name="Text 6"/>
          <p:cNvSpPr/>
          <p:nvPr/>
        </p:nvSpPr>
        <p:spPr>
          <a:xfrm>
            <a:off x="274320" y="2889360"/>
            <a:ext cx="38376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A</a:t>
            </a:r>
            <a:endParaRPr lang="en-US" sz="1300" b="0" u="none" strike="noStrike">
              <a:solidFill>
                <a:srgbClr val="FFFFFF"/>
              </a:solidFill>
              <a:effectLst/>
              <a:uFillTx/>
              <a:latin typeface="Arial"/>
            </a:endParaRPr>
          </a:p>
        </p:txBody>
      </p:sp>
      <p:sp>
        <p:nvSpPr>
          <p:cNvPr id="361" name="Text 7"/>
          <p:cNvSpPr/>
          <p:nvPr/>
        </p:nvSpPr>
        <p:spPr>
          <a:xfrm>
            <a:off x="777240" y="2880360"/>
            <a:ext cx="33829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WAM Assessment</a:t>
            </a:r>
            <a:endParaRPr lang="en-US" sz="1100" b="0" u="none" strike="noStrike">
              <a:solidFill>
                <a:srgbClr val="FFFFFF"/>
              </a:solidFill>
              <a:effectLst/>
              <a:uFillTx/>
              <a:latin typeface="Arial"/>
            </a:endParaRPr>
          </a:p>
        </p:txBody>
      </p:sp>
      <p:sp>
        <p:nvSpPr>
          <p:cNvPr id="362" name="Text 8"/>
          <p:cNvSpPr/>
          <p:nvPr/>
        </p:nvSpPr>
        <p:spPr>
          <a:xfrm>
            <a:off x="777240" y="3117960"/>
            <a:ext cx="33829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8BDD0"/>
                </a:solidFill>
                <a:effectLst/>
                <a:uFillTx/>
                <a:latin typeface="Calibri"/>
                <a:ea typeface="Calibri"/>
              </a:rPr>
              <a:t>2-week review of your current IaC library against CloudNation WAM standards — with a gap analysis and module roadmap.</a:t>
            </a:r>
            <a:endParaRPr lang="en-US" sz="900" b="0" u="none" strike="noStrike">
              <a:solidFill>
                <a:srgbClr val="FFFFFF"/>
              </a:solidFill>
              <a:effectLst/>
              <a:uFillTx/>
              <a:latin typeface="Arial"/>
            </a:endParaRPr>
          </a:p>
        </p:txBody>
      </p:sp>
      <p:sp>
        <p:nvSpPr>
          <p:cNvPr id="363" name="Shape 9"/>
          <p:cNvSpPr/>
          <p:nvPr/>
        </p:nvSpPr>
        <p:spPr>
          <a:xfrm>
            <a:off x="274320" y="3502080"/>
            <a:ext cx="383760" cy="383760"/>
          </a:xfrm>
          <a:prstGeom prst="ellipse">
            <a:avLst/>
          </a:prstGeom>
          <a:solidFill>
            <a:srgbClr val="0070F3"/>
          </a:solidFill>
          <a:ln w="12700">
            <a:solidFill>
              <a:srgbClr val="0070F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4" name="Text 10"/>
          <p:cNvSpPr/>
          <p:nvPr/>
        </p:nvSpPr>
        <p:spPr>
          <a:xfrm>
            <a:off x="274320" y="3511440"/>
            <a:ext cx="38376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B</a:t>
            </a:r>
            <a:endParaRPr lang="en-US" sz="1300" b="0" u="none" strike="noStrike">
              <a:solidFill>
                <a:srgbClr val="FFFFFF"/>
              </a:solidFill>
              <a:effectLst/>
              <a:uFillTx/>
              <a:latin typeface="Arial"/>
            </a:endParaRPr>
          </a:p>
        </p:txBody>
      </p:sp>
      <p:sp>
        <p:nvSpPr>
          <p:cNvPr id="365" name="Text 11"/>
          <p:cNvSpPr/>
          <p:nvPr/>
        </p:nvSpPr>
        <p:spPr>
          <a:xfrm>
            <a:off x="777240" y="3502080"/>
            <a:ext cx="33829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MCP Pilot</a:t>
            </a:r>
            <a:endParaRPr lang="en-US" sz="1100" b="0" u="none" strike="noStrike">
              <a:solidFill>
                <a:srgbClr val="FFFFFF"/>
              </a:solidFill>
              <a:effectLst/>
              <a:uFillTx/>
              <a:latin typeface="Arial"/>
            </a:endParaRPr>
          </a:p>
        </p:txBody>
      </p:sp>
      <p:sp>
        <p:nvSpPr>
          <p:cNvPr id="366" name="Text 12"/>
          <p:cNvSpPr/>
          <p:nvPr/>
        </p:nvSpPr>
        <p:spPr>
          <a:xfrm>
            <a:off x="777240" y="3740040"/>
            <a:ext cx="33829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8BDD0"/>
                </a:solidFill>
                <a:effectLst/>
                <a:uFillTx/>
                <a:latin typeface="Calibri"/>
                <a:ea typeface="Calibri"/>
              </a:rPr>
              <a:t>6-week pilot connecting your developers' IDEs to a CloudNation WAM MCP server. Measurable LZaaS acceleration in one sprint cycle.</a:t>
            </a:r>
            <a:endParaRPr lang="en-US" sz="900" b="0" u="none" strike="noStrike">
              <a:solidFill>
                <a:srgbClr val="FFFFFF"/>
              </a:solidFill>
              <a:effectLst/>
              <a:uFillTx/>
              <a:latin typeface="Arial"/>
            </a:endParaRPr>
          </a:p>
        </p:txBody>
      </p:sp>
      <p:sp>
        <p:nvSpPr>
          <p:cNvPr id="367" name="Shape 13"/>
          <p:cNvSpPr/>
          <p:nvPr/>
        </p:nvSpPr>
        <p:spPr>
          <a:xfrm>
            <a:off x="274320" y="4123800"/>
            <a:ext cx="383760" cy="383760"/>
          </a:xfrm>
          <a:prstGeom prst="ellipse">
            <a:avLst/>
          </a:prstGeom>
          <a:solidFill>
            <a:srgbClr val="0070F3"/>
          </a:solidFill>
          <a:ln w="12700">
            <a:solidFill>
              <a:srgbClr val="0070F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8" name="Text 14"/>
          <p:cNvSpPr/>
          <p:nvPr/>
        </p:nvSpPr>
        <p:spPr>
          <a:xfrm>
            <a:off x="274320" y="4133160"/>
            <a:ext cx="38376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C</a:t>
            </a:r>
            <a:endParaRPr lang="en-US" sz="1300" b="0" u="none" strike="noStrike">
              <a:solidFill>
                <a:srgbClr val="FFFFFF"/>
              </a:solidFill>
              <a:effectLst/>
              <a:uFillTx/>
              <a:latin typeface="Arial"/>
            </a:endParaRPr>
          </a:p>
        </p:txBody>
      </p:sp>
      <p:sp>
        <p:nvSpPr>
          <p:cNvPr id="369" name="Text 15"/>
          <p:cNvSpPr/>
          <p:nvPr/>
        </p:nvSpPr>
        <p:spPr>
          <a:xfrm>
            <a:off x="777240" y="4123800"/>
            <a:ext cx="33829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Full CCoE Enablement</a:t>
            </a:r>
            <a:endParaRPr lang="en-US" sz="1100" b="0" u="none" strike="noStrike">
              <a:solidFill>
                <a:srgbClr val="FFFFFF"/>
              </a:solidFill>
              <a:effectLst/>
              <a:uFillTx/>
              <a:latin typeface="Arial"/>
            </a:endParaRPr>
          </a:p>
        </p:txBody>
      </p:sp>
      <p:sp>
        <p:nvSpPr>
          <p:cNvPr id="370" name="Text 16"/>
          <p:cNvSpPr/>
          <p:nvPr/>
        </p:nvSpPr>
        <p:spPr>
          <a:xfrm>
            <a:off x="777240" y="4361760"/>
            <a:ext cx="33829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8BDD0"/>
                </a:solidFill>
                <a:effectLst/>
                <a:uFillTx/>
                <a:latin typeface="Calibri"/>
                <a:ea typeface="Calibri"/>
              </a:rPr>
              <a:t>End-to-end programme: WAM onboarding, MCP server deployment, CI/CD integration, and 3-month engineer upskilling.</a:t>
            </a:r>
            <a:endParaRPr lang="en-US" sz="900" b="0" u="none" strike="noStrike">
              <a:solidFill>
                <a:srgbClr val="FFFFFF"/>
              </a:solidFill>
              <a:effectLst/>
              <a:uFillTx/>
              <a:latin typeface="Arial"/>
            </a:endParaRPr>
          </a:p>
        </p:txBody>
      </p:sp>
      <p:sp>
        <p:nvSpPr>
          <p:cNvPr id="371" name="Text 17"/>
          <p:cNvSpPr/>
          <p:nvPr/>
        </p:nvSpPr>
        <p:spPr>
          <a:xfrm>
            <a:off x="4709160" y="822960"/>
            <a:ext cx="411444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0070F3"/>
                </a:solidFill>
                <a:effectLst/>
                <a:uFillTx/>
                <a:latin typeface="Calibri"/>
                <a:ea typeface="Calibri"/>
              </a:rPr>
              <a:t>The cloud is fast.</a:t>
            </a:r>
            <a:endParaRPr lang="en-US" sz="2200" b="0" u="none" strike="noStrike">
              <a:solidFill>
                <a:srgbClr val="FFFFFF"/>
              </a:solidFill>
              <a:effectLst/>
              <a:uFillTx/>
              <a:latin typeface="Arial"/>
            </a:endParaRPr>
          </a:p>
          <a:p>
            <a:pPr defTabSz="914400">
              <a:lnSpc>
                <a:spcPct val="100000"/>
              </a:lnSpc>
              <a:tabLst>
                <a:tab pos="0" algn="l"/>
              </a:tabLst>
            </a:pPr>
            <a:r>
              <a:rPr lang="en-US" sz="2200" b="1" u="none" strike="noStrike">
                <a:solidFill>
                  <a:srgbClr val="0070F3"/>
                </a:solidFill>
                <a:effectLst/>
                <a:uFillTx/>
                <a:latin typeface="Calibri"/>
                <a:ea typeface="Calibri"/>
              </a:rPr>
              <a:t>Your standards should be faster.</a:t>
            </a:r>
            <a:endParaRPr lang="en-US" sz="2200" b="0" u="none" strike="noStrike">
              <a:solidFill>
                <a:srgbClr val="FFFFFF"/>
              </a:solidFill>
              <a:effectLst/>
              <a:uFillTx/>
              <a:latin typeface="Arial"/>
            </a:endParaRPr>
          </a:p>
        </p:txBody>
      </p:sp>
      <p:sp>
        <p:nvSpPr>
          <p:cNvPr id="372" name="Text 18"/>
          <p:cNvSpPr/>
          <p:nvPr/>
        </p:nvSpPr>
        <p:spPr>
          <a:xfrm>
            <a:off x="4709160" y="2030040"/>
            <a:ext cx="4114440" cy="1416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E8EFF8"/>
                </a:solidFill>
                <a:effectLst/>
                <a:uFillTx/>
                <a:latin typeface="Calibri"/>
                <a:ea typeface="Calibri"/>
              </a:rPr>
              <a:t>CloudNation has already built the modules.</a:t>
            </a:r>
            <a:endParaRPr lang="en-US"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E8EFF8"/>
                </a:solidFill>
                <a:effectLst/>
                <a:uFillTx/>
                <a:latin typeface="Calibri"/>
                <a:ea typeface="Calibri"/>
              </a:rPr>
              <a:t>We've already built the MCP server architecture.</a:t>
            </a:r>
            <a:endParaRPr lang="en-US"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E8EFF8"/>
                </a:solidFill>
                <a:effectLst/>
                <a:uFillTx/>
                <a:latin typeface="Calibri"/>
                <a:ea typeface="Calibri"/>
              </a:rPr>
              <a:t>We've already proven the governance model.</a:t>
            </a:r>
            <a:endParaRPr lang="en-US" sz="1200" b="0" u="none" strike="noStrike">
              <a:solidFill>
                <a:srgbClr val="FFFFFF"/>
              </a:solidFill>
              <a:effectLst/>
              <a:uFillTx/>
              <a:latin typeface="Arial"/>
            </a:endParaRPr>
          </a:p>
          <a:p>
            <a:pPr defTabSz="914400">
              <a:lnSpc>
                <a:spcPct val="100000"/>
              </a:lnSpc>
              <a:tabLst>
                <a:tab pos="0" algn="l"/>
              </a:tabLst>
            </a:pPr>
            <a:endParaRPr lang="en-US"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E8EFF8"/>
                </a:solidFill>
                <a:effectLst/>
                <a:uFillTx/>
                <a:latin typeface="Calibri"/>
                <a:ea typeface="Calibri"/>
              </a:rPr>
              <a:t>All that's left is connecting it to your engineers.</a:t>
            </a:r>
            <a:endParaRPr lang="en-US" sz="1200" b="0" u="none" strike="noStrike">
              <a:solidFill>
                <a:srgbClr val="FFFFFF"/>
              </a:solidFill>
              <a:effectLst/>
              <a:uFillTx/>
              <a:latin typeface="Arial"/>
            </a:endParaRPr>
          </a:p>
        </p:txBody>
      </p:sp>
      <p:sp>
        <p:nvSpPr>
          <p:cNvPr id="373" name="Shape 19"/>
          <p:cNvSpPr/>
          <p:nvPr/>
        </p:nvSpPr>
        <p:spPr>
          <a:xfrm>
            <a:off x="4709160" y="3566160"/>
            <a:ext cx="4114440" cy="1142640"/>
          </a:xfrm>
          <a:prstGeom prst="rect">
            <a:avLst/>
          </a:prstGeom>
          <a:solidFill>
            <a:srgbClr val="1A3560"/>
          </a:solidFill>
          <a:ln w="12700">
            <a:solidFill>
              <a:srgbClr val="1A3560"/>
            </a:solidFill>
            <a:round/>
          </a:ln>
          <a:effectLst>
            <a:outerShdw algn="bl" blurRad="101520" dir="8100000" dist="37674" kx="0" ky="0" rotWithShape="0" sx="100000" sy="100000">
              <a:srgbClr val="000000">
                <a:alpha val="18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4" name="Shape 20"/>
          <p:cNvSpPr/>
          <p:nvPr/>
        </p:nvSpPr>
        <p:spPr>
          <a:xfrm>
            <a:off x="4709160" y="3566160"/>
            <a:ext cx="4114440" cy="54360"/>
          </a:xfrm>
          <a:prstGeom prst="rect">
            <a:avLst/>
          </a:prstGeom>
          <a:solidFill>
            <a:srgbClr val="00C8C8"/>
          </a:solidFill>
          <a:ln w="12700">
            <a:solidFill>
              <a:srgbClr val="00C8C8"/>
            </a:solidFill>
            <a:round/>
          </a:ln>
        </p:spPr>
        <p:style>
          <a:lnRef idx="0"/>
          <a:fillRef idx="0"/>
          <a:effectRef idx="0"/>
          <a:fontRef idx="minor"/>
        </p:style>
        <p:txBody>
          <a:bodyPr lIns="90000" tIns="9720" rIns="90000" bIns="9720" anchor="t">
            <a:noAutofit/>
          </a:bodyPr>
          <a:p>
            <a:endParaRPr lang="en-US" sz="1800" b="0" u="none" strike="noStrike">
              <a:solidFill>
                <a:srgbClr val="000000"/>
              </a:solidFill>
              <a:effectLst/>
              <a:uFillTx/>
              <a:latin typeface="Arial"/>
            </a:endParaRPr>
          </a:p>
        </p:txBody>
      </p:sp>
      <p:sp>
        <p:nvSpPr>
          <p:cNvPr id="375" name="Text 21"/>
          <p:cNvSpPr/>
          <p:nvPr/>
        </p:nvSpPr>
        <p:spPr>
          <a:xfrm>
            <a:off x="4846320" y="3675960"/>
            <a:ext cx="384012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FFFFF"/>
                </a:solidFill>
                <a:effectLst/>
                <a:uFillTx/>
                <a:latin typeface="Calibri"/>
                <a:ea typeface="Calibri"/>
              </a:rPr>
              <a:t>cloudnation.nl</a:t>
            </a:r>
            <a:endParaRPr lang="en-US" sz="1800" b="0" u="none" strike="noStrike">
              <a:solidFill>
                <a:srgbClr val="FFFFFF"/>
              </a:solidFill>
              <a:effectLst/>
              <a:uFillTx/>
              <a:latin typeface="Arial"/>
            </a:endParaRPr>
          </a:p>
        </p:txBody>
      </p:sp>
      <p:sp>
        <p:nvSpPr>
          <p:cNvPr id="376" name="Text 22"/>
          <p:cNvSpPr/>
          <p:nvPr/>
        </p:nvSpPr>
        <p:spPr>
          <a:xfrm>
            <a:off x="4846320" y="4041720"/>
            <a:ext cx="384012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rgbClr val="00C8C8"/>
                </a:solidFill>
                <a:effectLst/>
                <a:uFillTx/>
                <a:latin typeface="Calibri"/>
                <a:ea typeface="Calibri"/>
              </a:rPr>
              <a:t>Enable, Empower, Deliver</a:t>
            </a:r>
            <a:endParaRPr lang="en-US" sz="1100" b="0" u="none" strike="noStrike">
              <a:solidFill>
                <a:srgbClr val="FFFFFF"/>
              </a:solidFill>
              <a:effectLst/>
              <a:uFillTx/>
              <a:latin typeface="Arial"/>
            </a:endParaRPr>
          </a:p>
        </p:txBody>
      </p:sp>
      <p:sp>
        <p:nvSpPr>
          <p:cNvPr id="377" name="Text 23"/>
          <p:cNvSpPr/>
          <p:nvPr/>
        </p:nvSpPr>
        <p:spPr>
          <a:xfrm>
            <a:off x="4846320" y="4316040"/>
            <a:ext cx="384012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5A7A9A"/>
                </a:solidFill>
                <a:effectLst/>
                <a:uFillTx/>
                <a:latin typeface="Calibri"/>
                <a:ea typeface="Calibri"/>
              </a:rPr>
              <a:t>Microsoft Gold Partner  ·  AWS Advanced Consulting Partner</a:t>
            </a:r>
            <a:endParaRPr lang="en-US" sz="900" b="0" u="none" strike="noStrike">
              <a:solidFill>
                <a:srgbClr val="FFFFFF"/>
              </a:solidFill>
              <a:effectLst/>
              <a:uFillTx/>
              <a:latin typeface="Arial"/>
            </a:endParaRPr>
          </a:p>
        </p:txBody>
      </p:sp>
      <p:sp>
        <p:nvSpPr>
          <p:cNvPr id="378" name="Shape 24"/>
          <p:cNvSpPr/>
          <p:nvPr/>
        </p:nvSpPr>
        <p:spPr>
          <a:xfrm>
            <a:off x="0" y="4892040"/>
            <a:ext cx="9143640" cy="251280"/>
          </a:xfrm>
          <a:prstGeom prst="rect">
            <a:avLst/>
          </a:prstGeom>
          <a:solidFill>
            <a:srgbClr val="0F2040"/>
          </a:solidFill>
          <a:ln w="12700">
            <a:solidFill>
              <a:srgbClr val="0F204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9" name="Text 25"/>
          <p:cNvSpPr/>
          <p:nvPr/>
        </p:nvSpPr>
        <p:spPr>
          <a:xfrm>
            <a:off x="365760" y="4901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5A7A9A"/>
                </a:solidFill>
                <a:effectLst/>
                <a:uFillTx/>
                <a:latin typeface="Calibri"/>
                <a:ea typeface="Calibri"/>
              </a:rPr>
              <a:t>CloudNation — Confidential</a:t>
            </a:r>
            <a:endParaRPr lang="en-US" sz="800" b="0" u="none" strike="noStrike">
              <a:solidFill>
                <a:srgbClr val="FFFFFF"/>
              </a:solidFill>
              <a:effectLst/>
              <a:uFillTx/>
              <a:latin typeface="Arial"/>
            </a:endParaRPr>
          </a:p>
        </p:txBody>
      </p:sp>
      <p:sp>
        <p:nvSpPr>
          <p:cNvPr id="380" name="Text 26"/>
          <p:cNvSpPr/>
          <p:nvPr/>
        </p:nvSpPr>
        <p:spPr>
          <a:xfrm>
            <a:off x="8412480" y="4901040"/>
            <a:ext cx="54828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7A9A"/>
                </a:solidFill>
                <a:effectLst/>
                <a:uFillTx/>
                <a:latin typeface="Calibri"/>
                <a:ea typeface="Calibri"/>
              </a:rPr>
              <a:t>12 / 12</a:t>
            </a:r>
            <a:endParaRPr lang="en-US" sz="800" b="0" u="none" strike="noStrike">
              <a:solidFill>
                <a:srgbClr val="FFFFFF"/>
              </a:solidFill>
              <a:effectLst/>
              <a:uFillTx/>
              <a:latin typeface="Arial"/>
            </a:endParaRPr>
          </a:p>
        </p:txBody>
      </p:sp>
      <p:sp>
        <p:nvSpPr>
          <p:cNvPr id="381" name="Text 27"/>
          <p:cNvSpPr/>
          <p:nvPr/>
        </p:nvSpPr>
        <p:spPr>
          <a:xfrm>
            <a:off x="3657600" y="4901040"/>
            <a:ext cx="18284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00" b="0" u="none" strike="noStrike">
                <a:solidFill>
                  <a:srgbClr val="0070F3"/>
                </a:solidFill>
                <a:effectLst/>
                <a:uFillTx/>
                <a:latin typeface="Calibri"/>
                <a:ea typeface="Calibri"/>
              </a:rPr>
              <a:t>cloudnation.nl</a:t>
            </a:r>
            <a:endParaRPr lang="en-US"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LibreOffice/26.2.1.2$Windows_X86_64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2026-03-21T08:03:24Z</dcterms:created>
  <dc:creator>CloudNation</dc:creator>
  <dc:description/>
  <dc:language>en-US</dc:language>
  <cp:lastModifiedBy/>
  <dcterms:modified xsi:type="dcterms:W3CDTF">2026-03-21T20:18:28Z</dcterms:modified>
  <cp:revision>3</cp:revision>
  <dc:subject>LZaaS, Technical Debt &amp; Engineering Upskilling via MCP</dc:subject>
  <dc:title>AI-Augmented WAM — CCoE Pitch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On-screen Show (16:9)</vt:lpwstr>
  </property>
  <property fmtid="{D5CDD505-2E9C-101B-9397-08002B2CF9AE}" pid="4" name="Slides">
    <vt:i4>12</vt:i4>
  </property>
</Properties>
</file>